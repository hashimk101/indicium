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1"/>
  </p:notesMasterIdLst>
  <p:sldIdLst>
    <p:sldId id="481" r:id="rId2"/>
    <p:sldId id="764" r:id="rId3"/>
    <p:sldId id="765" r:id="rId4"/>
    <p:sldId id="766" r:id="rId5"/>
    <p:sldId id="767" r:id="rId6"/>
    <p:sldId id="768" r:id="rId7"/>
    <p:sldId id="769" r:id="rId8"/>
    <p:sldId id="770" r:id="rId9"/>
    <p:sldId id="772" r:id="rId10"/>
    <p:sldId id="773" r:id="rId11"/>
    <p:sldId id="778" r:id="rId12"/>
    <p:sldId id="775" r:id="rId13"/>
    <p:sldId id="776" r:id="rId14"/>
    <p:sldId id="781" r:id="rId15"/>
    <p:sldId id="779" r:id="rId16"/>
    <p:sldId id="783" r:id="rId17"/>
    <p:sldId id="780" r:id="rId18"/>
    <p:sldId id="782" r:id="rId19"/>
    <p:sldId id="784" r:id="rId20"/>
    <p:sldId id="785" r:id="rId21"/>
    <p:sldId id="793" r:id="rId22"/>
    <p:sldId id="786" r:id="rId23"/>
    <p:sldId id="787" r:id="rId24"/>
    <p:sldId id="788" r:id="rId25"/>
    <p:sldId id="789" r:id="rId26"/>
    <p:sldId id="791" r:id="rId27"/>
    <p:sldId id="794" r:id="rId28"/>
    <p:sldId id="795" r:id="rId29"/>
    <p:sldId id="796" r:id="rId30"/>
    <p:sldId id="797" r:id="rId31"/>
    <p:sldId id="798" r:id="rId32"/>
    <p:sldId id="799" r:id="rId33"/>
    <p:sldId id="800" r:id="rId34"/>
    <p:sldId id="801" r:id="rId35"/>
    <p:sldId id="803" r:id="rId36"/>
    <p:sldId id="802" r:id="rId37"/>
    <p:sldId id="804" r:id="rId38"/>
    <p:sldId id="805" r:id="rId39"/>
    <p:sldId id="807" r:id="rId40"/>
    <p:sldId id="806" r:id="rId41"/>
    <p:sldId id="810" r:id="rId42"/>
    <p:sldId id="812" r:id="rId43"/>
    <p:sldId id="808" r:id="rId44"/>
    <p:sldId id="809" r:id="rId45"/>
    <p:sldId id="816" r:id="rId46"/>
    <p:sldId id="818" r:id="rId47"/>
    <p:sldId id="819" r:id="rId48"/>
    <p:sldId id="813" r:id="rId49"/>
    <p:sldId id="822" r:id="rId50"/>
    <p:sldId id="823" r:id="rId51"/>
    <p:sldId id="820" r:id="rId52"/>
    <p:sldId id="821" r:id="rId53"/>
    <p:sldId id="825" r:id="rId54"/>
    <p:sldId id="824" r:id="rId55"/>
    <p:sldId id="839" r:id="rId56"/>
    <p:sldId id="838" r:id="rId57"/>
    <p:sldId id="831" r:id="rId58"/>
    <p:sldId id="830" r:id="rId59"/>
    <p:sldId id="829" r:id="rId60"/>
    <p:sldId id="832" r:id="rId61"/>
    <p:sldId id="835" r:id="rId62"/>
    <p:sldId id="840" r:id="rId63"/>
    <p:sldId id="841" r:id="rId64"/>
    <p:sldId id="843" r:id="rId65"/>
    <p:sldId id="847" r:id="rId66"/>
    <p:sldId id="836" r:id="rId67"/>
    <p:sldId id="845" r:id="rId68"/>
    <p:sldId id="846" r:id="rId69"/>
    <p:sldId id="844" r:id="rId70"/>
    <p:sldId id="852" r:id="rId71"/>
    <p:sldId id="848" r:id="rId72"/>
    <p:sldId id="849" r:id="rId73"/>
    <p:sldId id="850" r:id="rId74"/>
    <p:sldId id="853" r:id="rId75"/>
    <p:sldId id="851" r:id="rId76"/>
    <p:sldId id="855" r:id="rId77"/>
    <p:sldId id="854" r:id="rId78"/>
    <p:sldId id="856" r:id="rId79"/>
    <p:sldId id="412" r:id="rId80"/>
  </p:sldIdLst>
  <p:sldSz cx="9144000" cy="6858000" type="screen4x3"/>
  <p:notesSz cx="7099300" cy="10234613"/>
  <p:embeddedFontLst>
    <p:embeddedFont>
      <p:font typeface="Arial Narrow" panose="020B0604020202020204" pitchFamily="34" charset="0"/>
      <p:regular r:id="rId82"/>
      <p:bold r:id="rId83"/>
      <p:italic r:id="rId84"/>
      <p:boldItalic r:id="rId85"/>
    </p:embeddedFont>
    <p:embeddedFont>
      <p:font typeface="Consolas" panose="020B0609020204030204" pitchFamily="49" charset="0"/>
      <p:regular r:id="rId86"/>
      <p:bold r:id="rId87"/>
      <p:italic r:id="rId88"/>
      <p:boldItalic r:id="rId89"/>
    </p:embeddedFont>
    <p:embeddedFont>
      <p:font typeface="MS PGothic" panose="020B0600070205080204" pitchFamily="34" charset="-128"/>
      <p:regular r:id="rId90"/>
    </p:embeddedFont>
    <p:embeddedFont>
      <p:font typeface="Tahoma" panose="020B0604030504040204" pitchFamily="34" charset="0"/>
      <p:regular r:id="rId91"/>
      <p:bold r:id="rId92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0033CC"/>
    <a:srgbClr val="003399"/>
    <a:srgbClr val="FF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07" autoAdjust="0"/>
    <p:restoredTop sz="82925" autoAdjust="0"/>
  </p:normalViewPr>
  <p:slideViewPr>
    <p:cSldViewPr>
      <p:cViewPr varScale="1">
        <p:scale>
          <a:sx n="99" d="100"/>
          <a:sy n="99" d="100"/>
        </p:scale>
        <p:origin x="168" y="3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65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9.fntdata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4.fntdata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schemas.openxmlformats.org/officeDocument/2006/relationships/font" Target="fonts/font7.fntdata"/><Relationship Id="rId91" Type="http://schemas.openxmlformats.org/officeDocument/2006/relationships/font" Target="fonts/font10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font" Target="fonts/font5.fntdata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E307F30-E95D-4DC1-945B-D02103101FA8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8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3B227E-7079-4B80-BA2E-DD57F6C58329}" type="slidenum">
              <a:rPr lang="en-GB"/>
              <a:pPr/>
              <a:t>1</a:t>
            </a:fld>
            <a:endParaRPr lang="en-GB" dirty="0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3637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70C0"/>
                </a:solidFill>
              </a:rPr>
              <a:t>Example: </a:t>
            </a:r>
            <a:r>
              <a:rPr lang="en-US" dirty="0"/>
              <a:t>Process A started using one of the shared variables before process B was finished with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413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2544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uniprocessor, the only thing that will make multiple instruction sequences not atomic is interrupts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7417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Buzzy waiting: When a process wants to enter its critical region, it checks to see if the entry is allowed. If it is not, the process just sits in a tight loop waiting until it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6607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P()</a:t>
            </a:r>
            <a:r>
              <a:rPr lang="en-US" baseline="0" dirty="0"/>
              <a:t> for </a:t>
            </a:r>
            <a:r>
              <a:rPr lang="en-US" baseline="0" dirty="0" err="1"/>
              <a:t>probieren</a:t>
            </a:r>
            <a:r>
              <a:rPr lang="en-US" baseline="0" dirty="0"/>
              <a:t> (to test)</a:t>
            </a:r>
          </a:p>
          <a:p>
            <a:r>
              <a:rPr lang="en-US" baseline="0" dirty="0"/>
              <a:t>V() for </a:t>
            </a:r>
            <a:r>
              <a:rPr lang="en-US" baseline="0" dirty="0" err="1"/>
              <a:t>verhogen</a:t>
            </a:r>
            <a:r>
              <a:rPr lang="en-US" baseline="0" dirty="0"/>
              <a:t> (to increment)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46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026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54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329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Deadlock</a:t>
            </a:r>
            <a:r>
              <a:rPr lang="en-US" baseline="0" dirty="0"/>
              <a:t> remedy</a:t>
            </a:r>
          </a:p>
          <a:p>
            <a:pPr marL="228600" indent="-228600">
              <a:buAutoNum type="arabicParenR"/>
            </a:pPr>
            <a:r>
              <a:rPr lang="en-US" baseline="0" dirty="0"/>
              <a:t>A philosopher picks up her fork only if both forks are available (pick up forks in critical section)</a:t>
            </a:r>
          </a:p>
          <a:p>
            <a:pPr marL="228600" indent="-228600">
              <a:buAutoNum type="arabicParenR"/>
            </a:pPr>
            <a:r>
              <a:rPr lang="en-US" baseline="0" dirty="0"/>
              <a:t>Use asymmetric solution: An odd philosopher picks up first her left fork and then her right fork, whereas an even philosopher do oppositely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64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74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 variables have no 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75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41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84467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63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0464EE-74C5-42DE-B41A-1E7939C181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 userDrawn="1"/>
        </p:nvSpPr>
        <p:spPr bwMode="auto">
          <a:xfrm>
            <a:off x="323850" y="3500438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11256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2088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C8D6E8-E2D4-466A-B54E-56FCD6F950C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227E4-7A49-48B5-9005-D3E138ABBA16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D7F138-CABA-494C-B139-3348C3F117E5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A79DA3-BF4E-40A8-8F6E-F5109A9F2DA7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5293E3-F4F3-4363-BC2F-E6A2CD940E4C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D2D0C-D78B-4496-B32C-58738062D587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03EBF0-A890-4352-8C84-0E2FE7968D9C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CAE48C-F1F9-47E0-96BC-AD3F31B5CC07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CE2B5B-3ECC-4073-85E0-5A38BE95B70D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075" y="274638"/>
            <a:ext cx="2124075" cy="5851525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274638"/>
            <a:ext cx="6219825" cy="5851525"/>
          </a:xfrm>
        </p:spPr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6920" y="6381750"/>
            <a:ext cx="302418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C10656-B5F6-4C2B-B258-D0013A6A1799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2237" y="188640"/>
            <a:ext cx="849477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4744"/>
            <a:ext cx="84963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9832" y="6381750"/>
            <a:ext cx="3024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/>
              <a:t>5-Synchronization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9CEF86-67DF-4174-BD01-46D228FA3D60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250825" y="1052736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70C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Font typeface="Tahoma" pitchFamily="34" charset="0"/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5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5-Synchronization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0464EE-74C5-42DE-B41A-1E7939C181C3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Operating Systems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5.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98742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processes/threads interact (shared memory / message passing)</a:t>
            </a:r>
          </a:p>
          <a:p>
            <a:pPr lvl="1"/>
            <a:r>
              <a:rPr lang="en-US" dirty="0"/>
              <a:t>Results of interactions not guaranteed to be deterministic</a:t>
            </a:r>
          </a:p>
          <a:p>
            <a:pPr lvl="1"/>
            <a:r>
              <a:rPr lang="en-US" dirty="0"/>
              <a:t>Concurrent writes to the same address</a:t>
            </a:r>
          </a:p>
          <a:p>
            <a:pPr lvl="1"/>
            <a:r>
              <a:rPr lang="en-US" dirty="0"/>
              <a:t>Result depends on the order of operations</a:t>
            </a:r>
          </a:p>
          <a:p>
            <a:r>
              <a:rPr lang="en-US" dirty="0"/>
              <a:t>OS manage </a:t>
            </a:r>
          </a:p>
          <a:p>
            <a:pPr lvl="1"/>
            <a:r>
              <a:rPr lang="en-US" dirty="0"/>
              <a:t>Large number of resources</a:t>
            </a:r>
          </a:p>
          <a:p>
            <a:pPr lvl="1"/>
            <a:r>
              <a:rPr lang="en-US" dirty="0"/>
              <a:t>Common data structures</a:t>
            </a:r>
          </a:p>
          <a:p>
            <a:r>
              <a:rPr lang="en-US" dirty="0"/>
              <a:t>Need to provide good coordination mechanisms</a:t>
            </a:r>
          </a:p>
          <a:p>
            <a:pPr lvl="1"/>
            <a:r>
              <a:rPr lang="en-US" dirty="0"/>
              <a:t>Access to the data structures </a:t>
            </a:r>
          </a:p>
          <a:p>
            <a:pPr lvl="1"/>
            <a:r>
              <a:rPr lang="en-US" dirty="0"/>
              <a:t>Ensure consistency</a:t>
            </a:r>
          </a:p>
          <a:p>
            <a:r>
              <a:rPr lang="en-US" dirty="0">
                <a:solidFill>
                  <a:srgbClr val="0070C0"/>
                </a:solidFill>
              </a:rPr>
              <a:t>Objective</a:t>
            </a:r>
          </a:p>
          <a:p>
            <a:pPr lvl="1"/>
            <a:r>
              <a:rPr lang="en-US" dirty="0"/>
              <a:t>Identify general </a:t>
            </a:r>
            <a:r>
              <a:rPr lang="en-US" dirty="0">
                <a:solidFill>
                  <a:srgbClr val="0070C0"/>
                </a:solidFill>
              </a:rPr>
              <a:t>synchronization problems</a:t>
            </a:r>
          </a:p>
          <a:p>
            <a:pPr lvl="1"/>
            <a:r>
              <a:rPr lang="en-US" dirty="0"/>
              <a:t>Provide </a:t>
            </a:r>
            <a:r>
              <a:rPr lang="en-US" dirty="0">
                <a:solidFill>
                  <a:srgbClr val="0070C0"/>
                </a:solidFill>
              </a:rPr>
              <a:t>OS support for synchronization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7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Too Much Milk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323850" y="1412875"/>
            <a:ext cx="4171950" cy="471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sv-SE" sz="1800" kern="0" dirty="0">
                <a:latin typeface="+mj-lt"/>
              </a:rPr>
              <a:t> </a:t>
            </a:r>
            <a:r>
              <a:rPr lang="sv-SE" sz="2000" kern="0" dirty="0">
                <a:latin typeface="+mj-lt"/>
              </a:rPr>
              <a:t>Alice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3:00 Look in fridge - no milk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3:05 Leave for shop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3:10 Arrive at shop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3:15 Leave shop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3:20 Back home - put milk in fridge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3:25</a:t>
            </a:r>
            <a:endParaRPr lang="sv-SE" sz="3200" kern="0" dirty="0">
              <a:latin typeface="+mj-lt"/>
            </a:endParaRPr>
          </a:p>
          <a:p>
            <a:endParaRPr lang="en-GB" sz="2000" kern="0" dirty="0">
              <a:latin typeface="+mj-lt"/>
            </a:endParaRPr>
          </a:p>
        </p:txBody>
      </p:sp>
      <p:sp>
        <p:nvSpPr>
          <p:cNvPr id="7" name="Rectangle 8"/>
          <p:cNvSpPr txBox="1">
            <a:spLocks noChangeArrowheads="1"/>
          </p:cNvSpPr>
          <p:nvPr/>
        </p:nvSpPr>
        <p:spPr>
          <a:xfrm>
            <a:off x="4856764" y="1412875"/>
            <a:ext cx="4107724" cy="4713288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Bob</a:t>
            </a:r>
          </a:p>
          <a:p>
            <a:pPr>
              <a:buFontTx/>
              <a:buNone/>
            </a:pPr>
            <a:endParaRPr lang="sv-SE" sz="2000" kern="0" dirty="0">
              <a:latin typeface="+mj-lt"/>
            </a:endParaRP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Look in fridge - no milk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Leave for shop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Arrive at shop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Leave shop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Back home - put milk in fridge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Oooops!</a:t>
            </a:r>
          </a:p>
          <a:p>
            <a:endParaRPr lang="en-GB" sz="2000" kern="0" dirty="0">
              <a:latin typeface="+mj-lt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87188" y="4823908"/>
            <a:ext cx="759725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tx1"/>
              </a:buClr>
            </a:pPr>
            <a:r>
              <a:rPr lang="sv-SE" sz="2000" dirty="0">
                <a:latin typeface="+mj-lt"/>
              </a:rPr>
              <a:t>Problem: N</a:t>
            </a:r>
            <a:r>
              <a:rPr lang="sv-SE" sz="2000" b="0" dirty="0">
                <a:latin typeface="+mj-lt"/>
              </a:rPr>
              <a:t>eed </a:t>
            </a:r>
            <a:r>
              <a:rPr lang="sv-SE" sz="2000" b="0" dirty="0">
                <a:solidFill>
                  <a:srgbClr val="0033CC"/>
                </a:solidFill>
                <a:latin typeface="+mj-lt"/>
              </a:rPr>
              <a:t>to ensure that only one process is doing something at a time </a:t>
            </a:r>
            <a:r>
              <a:rPr lang="sv-SE" sz="2000" b="0" dirty="0">
                <a:latin typeface="+mj-lt"/>
              </a:rPr>
              <a:t>(e.g., getting milk)</a:t>
            </a:r>
            <a:endParaRPr lang="sv-SE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679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Money Flies Away 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Rectangle 11"/>
          <p:cNvSpPr txBox="1">
            <a:spLocks noChangeArrowheads="1"/>
          </p:cNvSpPr>
          <p:nvPr/>
        </p:nvSpPr>
        <p:spPr bwMode="auto">
          <a:xfrm>
            <a:off x="1187624" y="2294535"/>
            <a:ext cx="2994236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GB" sz="2000" kern="0" dirty="0">
                <a:latin typeface="+mj-lt"/>
              </a:rPr>
              <a:t>Bank thread A</a:t>
            </a:r>
          </a:p>
          <a:p>
            <a:pPr>
              <a:buFontTx/>
              <a:buNone/>
            </a:pPr>
            <a:endParaRPr lang="en-GB" sz="2000" kern="0" dirty="0">
              <a:latin typeface="+mj-lt"/>
            </a:endParaRPr>
          </a:p>
          <a:p>
            <a:pPr>
              <a:buFontTx/>
              <a:buNone/>
            </a:pPr>
            <a:r>
              <a:rPr lang="en-GB" sz="2000" kern="0" dirty="0">
                <a:latin typeface="+mj-lt"/>
              </a:rPr>
              <a:t>Read a := BALANCE</a:t>
            </a:r>
          </a:p>
          <a:p>
            <a:pPr>
              <a:buFontTx/>
              <a:buNone/>
            </a:pPr>
            <a:r>
              <a:rPr lang="en-GB" sz="2000" kern="0" dirty="0">
                <a:latin typeface="+mj-lt"/>
              </a:rPr>
              <a:t>a := a + 500</a:t>
            </a:r>
          </a:p>
          <a:p>
            <a:pPr>
              <a:buFontTx/>
              <a:buNone/>
            </a:pPr>
            <a:r>
              <a:rPr lang="en-GB" sz="2000" kern="0" dirty="0">
                <a:latin typeface="+mj-lt"/>
              </a:rPr>
              <a:t>Write BALANCE := a </a:t>
            </a:r>
          </a:p>
          <a:p>
            <a:endParaRPr lang="en-GB" sz="2000" kern="0" dirty="0">
              <a:latin typeface="+mj-lt"/>
            </a:endParaRPr>
          </a:p>
          <a:p>
            <a:endParaRPr lang="en-GB" sz="2000" kern="0" dirty="0">
              <a:latin typeface="+mj-lt"/>
            </a:endParaRPr>
          </a:p>
        </p:txBody>
      </p:sp>
      <p:sp>
        <p:nvSpPr>
          <p:cNvPr id="7" name="Rectangle 12"/>
          <p:cNvSpPr txBox="1">
            <a:spLocks noChangeArrowheads="1"/>
          </p:cNvSpPr>
          <p:nvPr/>
        </p:nvSpPr>
        <p:spPr>
          <a:xfrm>
            <a:off x="5076056" y="2294535"/>
            <a:ext cx="3142766" cy="2303463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Bank thread B</a:t>
            </a:r>
          </a:p>
          <a:p>
            <a:pPr>
              <a:buFontTx/>
              <a:buNone/>
            </a:pPr>
            <a:endParaRPr lang="sv-SE" sz="2000" kern="0" dirty="0">
              <a:latin typeface="+mj-lt"/>
            </a:endParaRP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Read b:= BALANCE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b := b – 200</a:t>
            </a:r>
          </a:p>
          <a:p>
            <a:pPr>
              <a:buFontTx/>
              <a:buNone/>
            </a:pPr>
            <a:r>
              <a:rPr lang="sv-SE" sz="2000" kern="0" dirty="0">
                <a:latin typeface="+mj-lt"/>
              </a:rPr>
              <a:t>Write BALANCE := b</a:t>
            </a:r>
          </a:p>
          <a:p>
            <a:pPr>
              <a:buFontTx/>
              <a:buNone/>
            </a:pPr>
            <a:endParaRPr lang="en-GB" sz="2000" kern="0" dirty="0">
              <a:latin typeface="+mj-lt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20510" y="4859218"/>
            <a:ext cx="770297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tx1"/>
              </a:buClr>
            </a:pPr>
            <a:r>
              <a:rPr lang="sv-SE" sz="2800" dirty="0">
                <a:latin typeface="+mj-lt"/>
              </a:rPr>
              <a:t>Oooops!! BALANCE: 1800 €!!!!</a:t>
            </a:r>
          </a:p>
          <a:p>
            <a:pPr marL="342900" indent="-342900" algn="ctr">
              <a:spcBef>
                <a:spcPct val="20000"/>
              </a:spcBef>
              <a:buClr>
                <a:schemeClr val="tx1"/>
              </a:buClr>
            </a:pPr>
            <a:r>
              <a:rPr lang="sv-SE" sz="2000" dirty="0">
                <a:latin typeface="+mj-lt"/>
              </a:rPr>
              <a:t>Problem: </a:t>
            </a:r>
            <a:r>
              <a:rPr lang="sv-SE" sz="2000" b="0" dirty="0">
                <a:latin typeface="+mj-lt"/>
              </a:rPr>
              <a:t>need </a:t>
            </a:r>
            <a:r>
              <a:rPr lang="sv-SE" sz="2000" b="0" dirty="0">
                <a:solidFill>
                  <a:srgbClr val="0070C0"/>
                </a:solidFill>
                <a:latin typeface="+mj-lt"/>
              </a:rPr>
              <a:t>to ensure that each process is executing its critical section (e.g updating BALANCE) exclusively (one at a time)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928969" y="1174310"/>
            <a:ext cx="29843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sv-SE" sz="2800" b="0" dirty="0">
                <a:latin typeface="+mj-lt"/>
              </a:rPr>
              <a:t>BALANCE: 2000 €</a:t>
            </a:r>
          </a:p>
        </p:txBody>
      </p:sp>
    </p:spTree>
    <p:extLst>
      <p:ext uri="{BB962C8B-B14F-4D97-AF65-F5344CB8AC3E}">
        <p14:creationId xmlns:p14="http://schemas.microsoft.com/office/powerpoint/2010/main" val="208084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Print Spooler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process wishes to print a file </a:t>
            </a:r>
          </a:p>
          <a:p>
            <a:pPr lvl="1"/>
            <a:r>
              <a:rPr lang="en-US" dirty="0"/>
              <a:t>It adds its name in a </a:t>
            </a:r>
            <a:r>
              <a:rPr lang="en-US" dirty="0">
                <a:solidFill>
                  <a:srgbClr val="0070C0"/>
                </a:solidFill>
              </a:rPr>
              <a:t>Spooler Directory</a:t>
            </a:r>
          </a:p>
          <a:p>
            <a:pPr lvl="2"/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printer process</a:t>
            </a:r>
          </a:p>
          <a:p>
            <a:pPr lvl="1"/>
            <a:r>
              <a:rPr lang="en-US" dirty="0"/>
              <a:t>Periodically checks the spooler directory</a:t>
            </a:r>
          </a:p>
          <a:p>
            <a:pPr lvl="1"/>
            <a:r>
              <a:rPr lang="en-US" dirty="0"/>
              <a:t>Prints a file</a:t>
            </a:r>
          </a:p>
          <a:p>
            <a:pPr lvl="1"/>
            <a:r>
              <a:rPr lang="en-US" dirty="0"/>
              <a:t>Removes its name from the directory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21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Print Spooler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6" name="Picture 5" descr="2-18"/>
          <p:cNvPicPr>
            <a:picLocks noGrp="1" noChangeAspect="1" noChangeArrowheads="1"/>
          </p:cNvPicPr>
          <p:nvPr/>
        </p:nvPicPr>
        <p:blipFill>
          <a:blip r:embed="rId2"/>
          <a:srcRect l="34837" r="34059"/>
          <a:stretch>
            <a:fillRect/>
          </a:stretch>
        </p:blipFill>
        <p:spPr bwMode="auto">
          <a:xfrm>
            <a:off x="4648200" y="1632743"/>
            <a:ext cx="1905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7"/>
                    </a:srgbClr>
                  </a:outerShdw>
                </a:effectLst>
              </a14:hiddenEffects>
            </a:ext>
          </a:extLst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469063" y="1731168"/>
            <a:ext cx="26599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Next file to be printed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6545263" y="5601295"/>
            <a:ext cx="27432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Next free slot in the directory</a:t>
            </a:r>
          </a:p>
        </p:txBody>
      </p:sp>
      <p:pic>
        <p:nvPicPr>
          <p:cNvPr id="9" name="Picture 8" descr="2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07" t="30508" r="-778" b="55933"/>
          <a:stretch>
            <a:fillRect/>
          </a:stretch>
        </p:blipFill>
        <p:spPr bwMode="auto">
          <a:xfrm>
            <a:off x="6621463" y="2242343"/>
            <a:ext cx="167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2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07" t="61017" r="-778" b="25424"/>
          <a:stretch>
            <a:fillRect/>
          </a:stretch>
        </p:blipFill>
        <p:spPr bwMode="auto">
          <a:xfrm>
            <a:off x="6621463" y="4985543"/>
            <a:ext cx="167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7"/>
          <p:cNvSpPr>
            <a:spLocks noChangeShapeType="1"/>
          </p:cNvSpPr>
          <p:nvPr/>
        </p:nvSpPr>
        <p:spPr bwMode="auto">
          <a:xfrm flipH="1">
            <a:off x="6477000" y="2795315"/>
            <a:ext cx="903312" cy="5138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endParaRPr lang="fr-FR" sz="240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Line 18"/>
          <p:cNvSpPr>
            <a:spLocks noChangeShapeType="1"/>
          </p:cNvSpPr>
          <p:nvPr/>
        </p:nvSpPr>
        <p:spPr bwMode="auto">
          <a:xfrm flipH="1" flipV="1">
            <a:off x="6477000" y="4680743"/>
            <a:ext cx="993751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endParaRPr lang="fr-FR" sz="240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AutoShape 20"/>
          <p:cNvSpPr>
            <a:spLocks/>
          </p:cNvSpPr>
          <p:nvPr/>
        </p:nvSpPr>
        <p:spPr bwMode="auto">
          <a:xfrm>
            <a:off x="8297863" y="2547143"/>
            <a:ext cx="228600" cy="2590800"/>
          </a:xfrm>
          <a:prstGeom prst="rightBrace">
            <a:avLst>
              <a:gd name="adj1" fmla="val 94444"/>
              <a:gd name="adj2" fmla="val 50000"/>
            </a:avLst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endParaRPr lang="fr-FR" sz="240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44451" y="1201466"/>
            <a:ext cx="4787589" cy="5112568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ＭＳ Ｐゴシック" charset="0"/>
              </a:rPr>
              <a:t>If any process wants to print a file it will execute the following code</a:t>
            </a:r>
          </a:p>
          <a:p>
            <a:pPr lvl="1">
              <a:buFontTx/>
              <a:buAutoNum type="arabicPeriod"/>
              <a:defRPr/>
            </a:pPr>
            <a:r>
              <a:rPr lang="en-US" sz="2000" dirty="0">
                <a:cs typeface="ＭＳ Ｐゴシック" charset="0"/>
              </a:rPr>
              <a:t>Read the value of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ＭＳ Ｐゴシック" charset="0"/>
              </a:rPr>
              <a:t>in</a:t>
            </a:r>
            <a:r>
              <a:rPr lang="en-US" sz="2000" dirty="0">
                <a:cs typeface="ＭＳ Ｐゴシック" charset="0"/>
              </a:rPr>
              <a:t> in a local variable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ＭＳ Ｐゴシック" charset="0"/>
            </a:endParaRPr>
          </a:p>
          <a:p>
            <a:pPr lvl="1">
              <a:buFontTx/>
              <a:buAutoNum type="arabicPeriod"/>
              <a:defRPr/>
            </a:pPr>
            <a:r>
              <a:rPr lang="en-US" sz="2000" dirty="0">
                <a:cs typeface="ＭＳ Ｐゴシック" charset="0"/>
              </a:rPr>
              <a:t>Store the name of its file in the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ＭＳ Ｐゴシック" charset="0"/>
            </a:endParaRPr>
          </a:p>
          <a:p>
            <a:pPr lvl="1">
              <a:buFontTx/>
              <a:buAutoNum type="arabicPeriod"/>
              <a:defRPr/>
            </a:pPr>
            <a:r>
              <a:rPr lang="en-US" sz="2000" dirty="0">
                <a:cs typeface="ＭＳ Ｐゴシック" charset="0"/>
              </a:rPr>
              <a:t>Increment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ＭＳ Ｐゴシック" charset="0"/>
            </a:endParaRPr>
          </a:p>
          <a:p>
            <a:pPr lvl="1">
              <a:buFontTx/>
              <a:buAutoNum type="arabicPeriod"/>
              <a:defRPr/>
            </a:pPr>
            <a:r>
              <a:rPr lang="en-US" sz="2000" dirty="0">
                <a:cs typeface="ＭＳ Ｐゴシック" charset="0"/>
              </a:rPr>
              <a:t>Store back in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ＭＳ Ｐゴシック" charset="0"/>
              </a:rPr>
              <a:t>in</a:t>
            </a:r>
          </a:p>
          <a:p>
            <a:endParaRPr lang="en-US" dirty="0"/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7111104" y="3526630"/>
            <a:ext cx="1280422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srgbClr val="CC3300"/>
                </a:solidFill>
                <a:latin typeface="+mj-lt"/>
                <a:ea typeface="ＭＳ Ｐゴシック" charset="0"/>
                <a:cs typeface="ＭＳ Ｐゴシック" charset="0"/>
              </a:rPr>
              <a:t>Shared</a:t>
            </a:r>
          </a:p>
          <a:p>
            <a:pPr algn="ctr">
              <a:defRPr/>
            </a:pPr>
            <a:r>
              <a:rPr lang="en-US" sz="2000">
                <a:solidFill>
                  <a:srgbClr val="CC3300"/>
                </a:solidFill>
                <a:latin typeface="+mj-lt"/>
                <a:ea typeface="ＭＳ Ｐゴシック" charset="0"/>
                <a:cs typeface="ＭＳ Ｐゴシック" charset="0"/>
              </a:rPr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176606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  <p:bldP spid="12" grpId="0" animBg="1"/>
      <p:bldP spid="13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Print Spooler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6" name="Picture 7" descr="2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7" r="34059"/>
          <a:stretch>
            <a:fillRect/>
          </a:stretch>
        </p:blipFill>
        <p:spPr bwMode="auto">
          <a:xfrm>
            <a:off x="3622576" y="1683855"/>
            <a:ext cx="1905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-457200" y="1607655"/>
            <a:ext cx="3886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sz="2000" dirty="0">
                <a:solidFill>
                  <a:srgbClr val="0000FF"/>
                </a:solidFill>
                <a:latin typeface="+mj-lt"/>
                <a:cs typeface="ＭＳ Ｐゴシック" charset="0"/>
              </a:rPr>
              <a:t>  </a:t>
            </a:r>
            <a:r>
              <a:rPr lang="en-US" sz="2100" dirty="0">
                <a:solidFill>
                  <a:srgbClr val="0070C0"/>
                </a:solidFill>
                <a:latin typeface="+mj-lt"/>
                <a:cs typeface="ＭＳ Ｐゴシック" charset="0"/>
              </a:rPr>
              <a:t>Process A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404119" y="1191946"/>
            <a:ext cx="656436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Let A and B be processes who want to print their files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555776" y="5981218"/>
            <a:ext cx="1172116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 = 7 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3165376" y="4731855"/>
            <a:ext cx="762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240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" y="5265255"/>
            <a:ext cx="28184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r>
              <a:rPr lang="en-US" sz="2000" baseline="-250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a</a:t>
            </a:r>
            <a:r>
              <a:rPr lang="en-US" sz="20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7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0" y="1912455"/>
            <a:ext cx="38100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1. Read the value of in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</a:t>
            </a: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 a local variable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5032624" y="1607655"/>
            <a:ext cx="3886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cs typeface="ＭＳ Ｐゴシック" charset="0"/>
              </a:rPr>
              <a:t>  Process B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5489824" y="1912455"/>
            <a:ext cx="38100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1. Read the value of in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</a:t>
            </a: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 a local variable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6318250" y="5265255"/>
            <a:ext cx="28184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r>
              <a:rPr lang="en-US" sz="2000" baseline="-250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b</a:t>
            </a:r>
            <a:r>
              <a:rPr lang="en-US" sz="20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7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5508874" y="2674455"/>
            <a:ext cx="333375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2. Store the name of its file in the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4216301" y="4514368"/>
            <a:ext cx="7747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>
                <a:latin typeface="+mj-lt"/>
                <a:ea typeface="ＭＳ Ｐゴシック" charset="0"/>
                <a:cs typeface="ＭＳ Ｐゴシック" charset="0"/>
              </a:rPr>
              <a:t>B.cpp</a:t>
            </a: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5432674" y="3360255"/>
            <a:ext cx="38671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3 .Increment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4. Store back in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2565301" y="5990653"/>
            <a:ext cx="1172116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 = 8 </a:t>
            </a: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3984657" y="3713755"/>
            <a:ext cx="1391728" cy="738664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900" dirty="0">
              <a:latin typeface="+mj-lt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sz="2400" dirty="0">
                <a:latin typeface="+mj-lt"/>
                <a:ea typeface="ＭＳ Ｐゴシック" charset="0"/>
                <a:cs typeface="ＭＳ Ｐゴシック" charset="0"/>
              </a:rPr>
              <a:t>Time out</a:t>
            </a:r>
          </a:p>
          <a:p>
            <a:pPr>
              <a:defRPr/>
            </a:pPr>
            <a:endParaRPr lang="en-US" sz="900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0" y="2674455"/>
            <a:ext cx="333375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2. Store the name of its file in the</a:t>
            </a:r>
            <a:r>
              <a:rPr lang="en-US" sz="2000" dirty="0">
                <a:solidFill>
                  <a:srgbClr val="0000FF"/>
                </a:solidFill>
                <a:latin typeface="+mj-lt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0" y="3360255"/>
            <a:ext cx="3733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3. Increment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next_free_slot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ea typeface="ＭＳ Ｐゴシック" charset="0"/>
              <a:cs typeface="ＭＳ Ｐゴシック" charset="0"/>
            </a:endParaRPr>
          </a:p>
          <a:p>
            <a:pPr marL="457200" indent="-457200">
              <a:defRPr/>
            </a:pPr>
            <a:r>
              <a:rPr lang="en-US" sz="2000" dirty="0">
                <a:latin typeface="+mj-lt"/>
                <a:ea typeface="ＭＳ Ｐゴシック" charset="0"/>
                <a:cs typeface="ＭＳ Ｐゴシック" charset="0"/>
              </a:rPr>
              <a:t>4. Store back in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</a:t>
            </a: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4232176" y="4503255"/>
            <a:ext cx="755335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>
                <a:latin typeface="+mj-lt"/>
                <a:ea typeface="ＭＳ Ｐゴシック" charset="0"/>
                <a:cs typeface="ＭＳ Ｐゴシック" charset="0"/>
              </a:rPr>
              <a:t>A.cpp</a:t>
            </a: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 rot="19365002">
            <a:off x="2410024" y="2372326"/>
            <a:ext cx="4191000" cy="93839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sz="2000" dirty="0">
                <a:solidFill>
                  <a:srgbClr val="0070C0"/>
                </a:solidFill>
                <a:latin typeface="+mj-lt"/>
                <a:cs typeface="ＭＳ Ｐゴシック" charset="0"/>
              </a:rPr>
              <a:t>  Process B will never receive any output</a:t>
            </a:r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V="1">
            <a:off x="3165376" y="5189055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2400">
              <a:latin typeface="+mj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03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2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  <p:bldP spid="12" grpId="0"/>
      <p:bldP spid="14" grpId="0"/>
      <p:bldP spid="15" grpId="0" animBg="1"/>
      <p:bldP spid="16" grpId="0"/>
      <p:bldP spid="17" grpId="0"/>
      <p:bldP spid="18" grpId="0"/>
      <p:bldP spid="19" grpId="0" animBg="1"/>
      <p:bldP spid="19" grpId="1" animBg="1"/>
      <p:bldP spid="20" grpId="0" animBg="1"/>
      <p:bldP spid="20" grpId="1" animBg="1"/>
      <p:bldP spid="20" grpId="2" animBg="1"/>
      <p:bldP spid="20" grpId="3" animBg="1"/>
      <p:bldP spid="21" grpId="0"/>
      <p:bldP spid="22" grpId="0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Producer/Consumer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integer count that keeps track of the number of full buffers  </a:t>
            </a:r>
          </a:p>
          <a:p>
            <a:pPr lvl="2"/>
            <a:endParaRPr lang="en-US" dirty="0"/>
          </a:p>
          <a:p>
            <a:r>
              <a:rPr lang="en-US" dirty="0"/>
              <a:t>Initially, count is set to 0</a:t>
            </a:r>
          </a:p>
          <a:p>
            <a:pPr lvl="1"/>
            <a:r>
              <a:rPr lang="en-US" dirty="0"/>
              <a:t>Count is incremented by the producer after it produces a new buffer </a:t>
            </a:r>
          </a:p>
          <a:p>
            <a:pPr lvl="1"/>
            <a:r>
              <a:rPr lang="en-US" dirty="0"/>
              <a:t>Count is decremented by the consumer after it consumes a buffer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259793" y="3140968"/>
            <a:ext cx="6624414" cy="30963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b="1" kern="0" dirty="0">
                <a:solidFill>
                  <a:srgbClr val="0070C0"/>
                </a:solidFill>
                <a:latin typeface="+mj-lt"/>
              </a:rPr>
              <a:t>Producer</a:t>
            </a:r>
          </a:p>
          <a:p>
            <a:pPr marL="0" indent="0">
              <a:buFontTx/>
              <a:buNone/>
            </a:pPr>
            <a:r>
              <a:rPr lang="en-US" sz="1800" b="1" kern="0" dirty="0">
                <a:latin typeface="Consolas" panose="020B0609020204030204" pitchFamily="49" charset="0"/>
              </a:rPr>
              <a:t>while</a:t>
            </a:r>
            <a:r>
              <a:rPr lang="en-US" sz="1800" kern="0" dirty="0">
                <a:latin typeface="Consolas" panose="020B0609020204030204" pitchFamily="49" charset="0"/>
              </a:rPr>
              <a:t> (true) {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/*  produce an item and put in </a:t>
            </a:r>
            <a:r>
              <a:rPr lang="en-US" sz="1800" kern="0" dirty="0" err="1">
                <a:latin typeface="Consolas" panose="020B0609020204030204" pitchFamily="49" charset="0"/>
              </a:rPr>
              <a:t>nextProduced</a:t>
            </a:r>
            <a:r>
              <a:rPr lang="en-US" sz="1800" kern="0" dirty="0">
                <a:latin typeface="Consolas" panose="020B0609020204030204" pitchFamily="49" charset="0"/>
              </a:rPr>
              <a:t>  */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</a:t>
            </a:r>
            <a:r>
              <a:rPr lang="en-US" sz="1800" b="1" kern="0" dirty="0">
                <a:latin typeface="Consolas" panose="020B0609020204030204" pitchFamily="49" charset="0"/>
              </a:rPr>
              <a:t>while</a:t>
            </a:r>
            <a:r>
              <a:rPr lang="en-US" sz="1800" kern="0" dirty="0">
                <a:latin typeface="Consolas" panose="020B0609020204030204" pitchFamily="49" charset="0"/>
              </a:rPr>
              <a:t> (counter == BUFFER_SIZE)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; // do nothing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buffer [in] = </a:t>
            </a:r>
            <a:r>
              <a:rPr lang="en-US" sz="1800" kern="0" dirty="0" err="1">
                <a:latin typeface="Consolas" panose="020B0609020204030204" pitchFamily="49" charset="0"/>
              </a:rPr>
              <a:t>nextProduced</a:t>
            </a:r>
            <a:r>
              <a:rPr lang="en-US" sz="1800" kern="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in = (in + 1) % BUFFER_SIZE;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counter++;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54477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Producer/Consumer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integer count that keeps track of the number of full buffers  </a:t>
            </a:r>
          </a:p>
          <a:p>
            <a:pPr lvl="2"/>
            <a:endParaRPr lang="en-US" dirty="0"/>
          </a:p>
          <a:p>
            <a:r>
              <a:rPr lang="en-US" dirty="0"/>
              <a:t>Initially, count is set to 0</a:t>
            </a:r>
          </a:p>
          <a:p>
            <a:pPr lvl="1"/>
            <a:r>
              <a:rPr lang="en-US" dirty="0"/>
              <a:t>Count is incremented by the producer after it produces a new buffer </a:t>
            </a:r>
          </a:p>
          <a:p>
            <a:pPr lvl="1"/>
            <a:r>
              <a:rPr lang="en-US" dirty="0"/>
              <a:t>Count is decremented by the consumer after it consumes a buffer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727764" y="3140968"/>
            <a:ext cx="5688471" cy="30963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b="1" kern="0" dirty="0">
                <a:solidFill>
                  <a:srgbClr val="0070C0"/>
                </a:solidFill>
                <a:latin typeface="+mj-lt"/>
              </a:rPr>
              <a:t>Consumer:</a:t>
            </a:r>
          </a:p>
          <a:p>
            <a:pPr marL="0" indent="0">
              <a:buFontTx/>
              <a:buNone/>
            </a:pPr>
            <a:r>
              <a:rPr lang="en-US" sz="1800" b="1" kern="0" dirty="0">
                <a:latin typeface="Consolas" panose="020B0609020204030204" pitchFamily="49" charset="0"/>
              </a:rPr>
              <a:t>while</a:t>
            </a:r>
            <a:r>
              <a:rPr lang="en-US" sz="1800" kern="0" dirty="0">
                <a:latin typeface="Consolas" panose="020B0609020204030204" pitchFamily="49" charset="0"/>
              </a:rPr>
              <a:t> (true)  {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</a:t>
            </a:r>
            <a:r>
              <a:rPr lang="en-US" sz="1800" b="1" kern="0" dirty="0">
                <a:latin typeface="Consolas" panose="020B0609020204030204" pitchFamily="49" charset="0"/>
              </a:rPr>
              <a:t>while</a:t>
            </a:r>
            <a:r>
              <a:rPr lang="en-US" sz="1800" kern="0" dirty="0">
                <a:latin typeface="Consolas" panose="020B0609020204030204" pitchFamily="49" charset="0"/>
              </a:rPr>
              <a:t> (counter == 0)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; // do nothing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</a:t>
            </a:r>
            <a:r>
              <a:rPr lang="en-US" sz="1800" kern="0" dirty="0" err="1">
                <a:latin typeface="Consolas" panose="020B0609020204030204" pitchFamily="49" charset="0"/>
              </a:rPr>
              <a:t>nextConsumed</a:t>
            </a:r>
            <a:r>
              <a:rPr lang="en-US" sz="1800" kern="0" dirty="0">
                <a:latin typeface="Consolas" panose="020B0609020204030204" pitchFamily="49" charset="0"/>
              </a:rPr>
              <a:t> =  buffer[out];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out = (out + 1) % BUFFER_SIZE;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counter--;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/*  consume the item in </a:t>
            </a:r>
            <a:r>
              <a:rPr lang="en-US" sz="1800" kern="0" dirty="0" err="1">
                <a:latin typeface="Consolas" panose="020B0609020204030204" pitchFamily="49" charset="0"/>
              </a:rPr>
              <a:t>nextConsumed</a:t>
            </a:r>
            <a:r>
              <a:rPr lang="en-US" sz="1800" kern="0" dirty="0">
                <a:latin typeface="Consolas" panose="020B0609020204030204" pitchFamily="49" charset="0"/>
              </a:rPr>
              <a:t> */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666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Problem – 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096168"/>
            <a:ext cx="8496300" cy="5112568"/>
          </a:xfrm>
        </p:spPr>
        <p:txBody>
          <a:bodyPr/>
          <a:lstStyle/>
          <a:p>
            <a:r>
              <a:rPr lang="en-US" sz="2000" dirty="0">
                <a:latin typeface="Consolas" panose="020B0609020204030204" pitchFamily="49" charset="0"/>
              </a:rPr>
              <a:t>counter++ </a:t>
            </a:r>
            <a:r>
              <a:rPr lang="en-US" sz="2000" dirty="0"/>
              <a:t>could be implemented as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register1 = counter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register1 = register1 + 1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counter = register1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counter-- </a:t>
            </a:r>
            <a:r>
              <a:rPr lang="en-US" sz="2000" dirty="0"/>
              <a:t>could be implemented as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register2 = counter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register2 = register2 – 1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count = register2</a:t>
            </a:r>
          </a:p>
          <a:p>
            <a:r>
              <a:rPr lang="en-US" sz="2000" dirty="0"/>
              <a:t>Consider this execution interleaving with </a:t>
            </a:r>
            <a:r>
              <a:rPr lang="en-US" sz="2000" dirty="0">
                <a:latin typeface="Consolas" panose="020B0609020204030204" pitchFamily="49" charset="0"/>
              </a:rPr>
              <a:t>“count = 5” </a:t>
            </a:r>
            <a:r>
              <a:rPr lang="en-US" sz="2000" dirty="0"/>
              <a:t>initially:</a:t>
            </a:r>
          </a:p>
          <a:p>
            <a:pPr lvl="1"/>
            <a:r>
              <a:rPr lang="en-US" sz="1800" dirty="0"/>
              <a:t>S0: producer execute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register1 = counter  {register1 = 5}</a:t>
            </a:r>
          </a:p>
          <a:p>
            <a:pPr lvl="1"/>
            <a:r>
              <a:rPr lang="en-US" sz="1800" dirty="0"/>
              <a:t>S1: producer execute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register1 = register1 + 1  {register1 = 6} </a:t>
            </a:r>
          </a:p>
          <a:p>
            <a:pPr lvl="1"/>
            <a:r>
              <a:rPr lang="en-US" sz="1800" dirty="0"/>
              <a:t>S2: consumer execute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register2 = counter  {register2 = 5} </a:t>
            </a:r>
          </a:p>
          <a:p>
            <a:pPr lvl="1"/>
            <a:r>
              <a:rPr lang="en-US" sz="1800" dirty="0"/>
              <a:t>S3: consumer execute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register2 = register2 - 1 {register2 = 4} </a:t>
            </a:r>
          </a:p>
          <a:p>
            <a:pPr lvl="1"/>
            <a:r>
              <a:rPr lang="en-US" sz="1800" dirty="0"/>
              <a:t>S4: producer execute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counter = register1   {count = 6 } </a:t>
            </a:r>
          </a:p>
          <a:p>
            <a:pPr lvl="1"/>
            <a:r>
              <a:rPr lang="en-US" sz="1800" dirty="0"/>
              <a:t>S5: consumer execute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counter = register2   {count = 4}</a:t>
            </a:r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090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  <a:p>
            <a:pPr lvl="1"/>
            <a:r>
              <a:rPr lang="en-US" dirty="0"/>
              <a:t>Several processes access and manipulate the same data concurrently</a:t>
            </a:r>
          </a:p>
          <a:p>
            <a:pPr lvl="1"/>
            <a:r>
              <a:rPr lang="en-US" dirty="0"/>
              <a:t>Outcome of the execution depends on the particular order in which the access takes place</a:t>
            </a:r>
          </a:p>
          <a:p>
            <a:pPr lvl="2"/>
            <a:r>
              <a:rPr lang="en-US" dirty="0"/>
              <a:t>Debugging is not easy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Most test runs will run fine</a:t>
            </a:r>
          </a:p>
          <a:p>
            <a:pPr lvl="3"/>
            <a:endParaRPr lang="en-US" dirty="0"/>
          </a:p>
          <a:p>
            <a:r>
              <a:rPr lang="en-US" dirty="0"/>
              <a:t>At any given time a process is either</a:t>
            </a:r>
          </a:p>
          <a:p>
            <a:pPr lvl="1"/>
            <a:r>
              <a:rPr lang="en-US" dirty="0"/>
              <a:t>Doing internal computation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no race conditions</a:t>
            </a:r>
          </a:p>
          <a:p>
            <a:pPr lvl="1"/>
            <a:r>
              <a:rPr lang="en-US" dirty="0"/>
              <a:t>Or accessing shared data that can lead to race conditions</a:t>
            </a:r>
          </a:p>
          <a:p>
            <a:pPr lvl="3"/>
            <a:endParaRPr lang="en-US" dirty="0"/>
          </a:p>
          <a:p>
            <a:r>
              <a:rPr lang="en-US" dirty="0"/>
              <a:t>Part of the program where the shared memory is accessed is called </a:t>
            </a:r>
            <a:r>
              <a:rPr lang="en-US" dirty="0">
                <a:solidFill>
                  <a:srgbClr val="0070C0"/>
                </a:solidFill>
              </a:rPr>
              <a:t>Critical Region</a:t>
            </a:r>
          </a:p>
          <a:p>
            <a:pPr lvl="3"/>
            <a:endParaRPr lang="en-US" dirty="0"/>
          </a:p>
          <a:p>
            <a:r>
              <a:rPr lang="en-US" dirty="0"/>
              <a:t>Races condition can be avoided </a:t>
            </a:r>
          </a:p>
          <a:p>
            <a:pPr lvl="1"/>
            <a:r>
              <a:rPr lang="en-US" dirty="0"/>
              <a:t>If no two processes are in the critical region at the same time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414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node to a shared linked list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12</a:t>
            </a:fld>
            <a:endParaRPr lang="en-GB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228600" y="2438400"/>
            <a:ext cx="8839200" cy="1219200"/>
            <a:chOff x="144" y="2016"/>
            <a:chExt cx="5568" cy="768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776" y="2016"/>
              <a:ext cx="43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776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854" y="2089"/>
              <a:ext cx="1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latin typeface="+mj-lt"/>
                  <a:ea typeface="ＭＳ Ｐゴシック" charset="0"/>
                  <a:cs typeface="ＭＳ Ｐゴシック" charset="0"/>
                </a:rPr>
                <a:t>9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544" y="2016"/>
              <a:ext cx="43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544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619" y="2089"/>
              <a:ext cx="2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latin typeface="+mj-lt"/>
                  <a:ea typeface="ＭＳ Ｐゴシック" charset="0"/>
                  <a:cs typeface="ＭＳ Ｐゴシック" charset="0"/>
                </a:rPr>
                <a:t>17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312" y="2016"/>
              <a:ext cx="43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312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387" y="2089"/>
              <a:ext cx="2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latin typeface="+mj-lt"/>
                  <a:ea typeface="ＭＳ Ｐゴシック" charset="0"/>
                  <a:cs typeface="ＭＳ Ｐゴシック" charset="0"/>
                </a:rPr>
                <a:t>22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144" y="2160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192" y="2160"/>
              <a:ext cx="3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i="1">
                  <a:latin typeface="+mj-lt"/>
                  <a:ea typeface="ＭＳ Ｐゴシック" charset="0"/>
                  <a:cs typeface="ＭＳ Ｐゴシック" charset="0"/>
                </a:rPr>
                <a:t>first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4080" y="2016"/>
              <a:ext cx="43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4080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4155" y="2089"/>
              <a:ext cx="2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latin typeface="+mj-lt"/>
                  <a:ea typeface="ＭＳ Ｐゴシック" charset="0"/>
                  <a:cs typeface="ＭＳ Ｐゴシック" charset="0"/>
                </a:rPr>
                <a:t>26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4848" y="2016"/>
              <a:ext cx="43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4848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923" y="2089"/>
              <a:ext cx="2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latin typeface="+mj-lt"/>
                  <a:ea typeface="ＭＳ Ｐゴシック" charset="0"/>
                  <a:cs typeface="ＭＳ Ｐゴシック" charset="0"/>
                </a:rPr>
                <a:t>34</a:t>
              </a: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V="1">
              <a:off x="2064" y="2352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V="1">
              <a:off x="2832" y="2352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3600" y="2352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V="1">
              <a:off x="4368" y="2352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5520" y="240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5616" y="24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5712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5136" y="25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1008" y="2016"/>
              <a:ext cx="43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1008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1129" y="2089"/>
              <a:ext cx="1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latin typeface="+mj-lt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V="1">
              <a:off x="1296" y="2352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720" y="225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+mj-lt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37" name="Text Box 35"/>
          <p:cNvSpPr txBox="1">
            <a:spLocks noChangeArrowheads="1"/>
          </p:cNvSpPr>
          <p:nvPr/>
        </p:nvSpPr>
        <p:spPr bwMode="auto">
          <a:xfrm rot="20908306">
            <a:off x="545518" y="4082445"/>
            <a:ext cx="154184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Shared</a:t>
            </a:r>
          </a:p>
          <a:p>
            <a:pPr algn="ctr">
              <a:defRPr/>
            </a:pPr>
            <a:r>
              <a:rPr lang="en-US" sz="22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Variables</a:t>
            </a:r>
          </a:p>
        </p:txBody>
      </p:sp>
      <p:sp>
        <p:nvSpPr>
          <p:cNvPr id="38" name="AutoShape 36"/>
          <p:cNvSpPr>
            <a:spLocks/>
          </p:cNvSpPr>
          <p:nvPr/>
        </p:nvSpPr>
        <p:spPr bwMode="auto">
          <a:xfrm rot="4748487">
            <a:off x="565150" y="3046413"/>
            <a:ext cx="768350" cy="1371600"/>
          </a:xfrm>
          <a:prstGeom prst="rightBrace">
            <a:avLst>
              <a:gd name="adj1" fmla="val 14876"/>
              <a:gd name="adj2" fmla="val 50000"/>
            </a:avLst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30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Critical-Section (CS) 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𝑛 processes all competing to use some shared data / resource</a:t>
            </a:r>
          </a:p>
          <a:p>
            <a:pPr lvl="3"/>
            <a:endParaRPr lang="en-US" dirty="0"/>
          </a:p>
          <a:p>
            <a:r>
              <a:rPr lang="en-US" dirty="0"/>
              <a:t>Each process has a code segment, called </a:t>
            </a:r>
            <a:r>
              <a:rPr lang="en-US" dirty="0">
                <a:solidFill>
                  <a:srgbClr val="0070C0"/>
                </a:solidFill>
              </a:rPr>
              <a:t>critical section</a:t>
            </a:r>
            <a:r>
              <a:rPr lang="en-US" dirty="0"/>
              <a:t>, in which the shared data is accessed</a:t>
            </a:r>
          </a:p>
          <a:p>
            <a:pPr lvl="3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Problem: </a:t>
            </a:r>
            <a:r>
              <a:rPr lang="en-US" dirty="0"/>
              <a:t>ensure that </a:t>
            </a:r>
          </a:p>
          <a:p>
            <a:pPr lvl="1"/>
            <a:r>
              <a:rPr lang="en-US" dirty="0"/>
              <a:t>Never two process are allowed to execute in their critical section at the same time</a:t>
            </a:r>
          </a:p>
          <a:p>
            <a:pPr lvl="1"/>
            <a:r>
              <a:rPr lang="en-US" dirty="0"/>
              <a:t>Access to the critical section must be an atomic action</a:t>
            </a:r>
          </a:p>
          <a:p>
            <a:pPr lvl="3"/>
            <a:endParaRPr lang="en-US" dirty="0"/>
          </a:p>
          <a:p>
            <a:r>
              <a:rPr lang="en-US" dirty="0"/>
              <a:t>Structure of process P</a:t>
            </a:r>
            <a:r>
              <a:rPr lang="en-US" baseline="-25000" dirty="0"/>
              <a:t>i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923928" y="4555205"/>
            <a:ext cx="3384376" cy="175432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indent="-57150"/>
            <a:r>
              <a:rPr lang="en-US" dirty="0">
                <a:latin typeface="Consolas" panose="020B0609020204030204" pitchFamily="49" charset="0"/>
              </a:rPr>
              <a:t>repeat </a:t>
            </a:r>
          </a:p>
          <a:p>
            <a:pPr indent="-57150"/>
            <a:r>
              <a:rPr lang="en-US" dirty="0">
                <a:latin typeface="Consolas" panose="020B0609020204030204" pitchFamily="49" charset="0"/>
              </a:rPr>
              <a:t>   entry section</a:t>
            </a:r>
          </a:p>
          <a:p>
            <a:pPr indent="-57150"/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critical section</a:t>
            </a:r>
          </a:p>
          <a:p>
            <a:pPr indent="-57150"/>
            <a:r>
              <a:rPr lang="en-US" dirty="0">
                <a:latin typeface="Consolas" panose="020B0609020204030204" pitchFamily="49" charset="0"/>
              </a:rPr>
              <a:t>   exit section</a:t>
            </a:r>
          </a:p>
          <a:p>
            <a:pPr indent="-57150"/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remainder section</a:t>
            </a:r>
          </a:p>
          <a:p>
            <a:pPr indent="-57150"/>
            <a:r>
              <a:rPr lang="en-US" dirty="0">
                <a:latin typeface="Consolas" panose="020B0609020204030204" pitchFamily="49" charset="0"/>
              </a:rPr>
              <a:t>until false;</a:t>
            </a:r>
          </a:p>
        </p:txBody>
      </p:sp>
    </p:spTree>
    <p:extLst>
      <p:ext uri="{BB962C8B-B14F-4D97-AF65-F5344CB8AC3E}">
        <p14:creationId xmlns:p14="http://schemas.microsoft.com/office/powerpoint/2010/main" val="106829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Critical-Section (CS)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000" b="1" dirty="0" err="1">
                <a:latin typeface="Consolas" panose="020B0609020204030204" pitchFamily="49" charset="0"/>
              </a:rPr>
              <a:t>void</a:t>
            </a:r>
            <a:r>
              <a:rPr lang="es-ES" sz="2000" dirty="0">
                <a:latin typeface="Consolas" panose="020B0609020204030204" pitchFamily="49" charset="0"/>
              </a:rPr>
              <a:t> </a:t>
            </a:r>
            <a:r>
              <a:rPr lang="es-ES" sz="2000" dirty="0" err="1">
                <a:latin typeface="Consolas" panose="020B0609020204030204" pitchFamily="49" charset="0"/>
              </a:rPr>
              <a:t>threadRoutine</a:t>
            </a:r>
            <a:r>
              <a:rPr lang="es-ES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</a:t>
            </a:r>
            <a:r>
              <a:rPr lang="es-ES" sz="2000" dirty="0" err="1">
                <a:latin typeface="Consolas" panose="020B0609020204030204" pitchFamily="49" charset="0"/>
              </a:rPr>
              <a:t>int</a:t>
            </a:r>
            <a:r>
              <a:rPr lang="es-ES" sz="2000" dirty="0">
                <a:latin typeface="Consolas" panose="020B0609020204030204" pitchFamily="49" charset="0"/>
              </a:rPr>
              <a:t> y, x, z;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y = 3 + 5x;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</a:t>
            </a:r>
            <a:r>
              <a:rPr lang="es-ES" sz="2000" dirty="0">
                <a:solidFill>
                  <a:srgbClr val="0070C0"/>
                </a:solidFill>
                <a:latin typeface="Consolas" panose="020B0609020204030204" pitchFamily="49" charset="0"/>
              </a:rPr>
              <a:t>y = </a:t>
            </a:r>
            <a:r>
              <a:rPr lang="es-E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Global_Var</a:t>
            </a:r>
            <a:r>
              <a:rPr lang="es-ES" sz="20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y = y + 1;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s-E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Global_Var</a:t>
            </a:r>
            <a:r>
              <a:rPr lang="es-ES" sz="2000" dirty="0">
                <a:solidFill>
                  <a:srgbClr val="0070C0"/>
                </a:solidFill>
                <a:latin typeface="Consolas" panose="020B0609020204030204" pitchFamily="49" charset="0"/>
              </a:rPr>
              <a:t> = y;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…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…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}	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Right Brace 5"/>
          <p:cNvSpPr/>
          <p:nvPr/>
        </p:nvSpPr>
        <p:spPr>
          <a:xfrm>
            <a:off x="3203848" y="2636912"/>
            <a:ext cx="360040" cy="1080120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6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Critical-Section (CS)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76200" y="1865313"/>
            <a:ext cx="11613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>
                <a:latin typeface="+mj-lt"/>
                <a:ea typeface="ＭＳ Ｐゴシック" charset="0"/>
                <a:cs typeface="ＭＳ Ｐゴシック" charset="0"/>
              </a:rPr>
              <a:t>Process A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76200" y="3590925"/>
            <a:ext cx="11597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>
                <a:latin typeface="+mj-lt"/>
                <a:ea typeface="ＭＳ Ｐゴシック" charset="0"/>
                <a:cs typeface="ＭＳ Ｐゴシック" charset="0"/>
              </a:rPr>
              <a:t>Process B</a:t>
            </a: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1524000" y="20574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>
            <a:off x="1524000" y="38100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2667000" y="12954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2971800" y="41148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j-lt"/>
                <a:ea typeface="ＭＳ Ｐゴシック" charset="0"/>
                <a:cs typeface="ＭＳ Ｐゴシック" charset="0"/>
              </a:rPr>
              <a:t>T</a:t>
            </a:r>
            <a:r>
              <a:rPr lang="en-US" baseline="-25000">
                <a:latin typeface="+mj-lt"/>
                <a:ea typeface="ＭＳ Ｐゴシック" charset="0"/>
                <a:cs typeface="ＭＳ Ｐゴシック" charset="0"/>
              </a:rPr>
              <a:t>1</a:t>
            </a:r>
          </a:p>
        </p:txBody>
      </p:sp>
      <p:cxnSp>
        <p:nvCxnSpPr>
          <p:cNvPr id="12" name="AutoShape 17"/>
          <p:cNvCxnSpPr>
            <a:cxnSpLocks noChangeShapeType="1"/>
            <a:stCxn id="11" idx="0"/>
            <a:endCxn id="9" idx="1"/>
          </p:cNvCxnSpPr>
          <p:nvPr/>
        </p:nvCxnSpPr>
        <p:spPr bwMode="auto">
          <a:xfrm rot="16200000" flipV="1">
            <a:off x="2767670" y="3709332"/>
            <a:ext cx="304799" cy="506137"/>
          </a:xfrm>
          <a:prstGeom prst="curvedConnector3">
            <a:avLst>
              <a:gd name="adj1" fmla="val 17500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2667000" y="1981200"/>
            <a:ext cx="1143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fr-FR">
              <a:solidFill>
                <a:schemeClr val="folHlink"/>
              </a:solidFill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3124200" y="1330325"/>
            <a:ext cx="28092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A enters critical section</a:t>
            </a:r>
            <a:endParaRPr lang="en-US" sz="2000" baseline="-25000">
              <a:latin typeface="+mj-lt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15" name="AutoShape 20"/>
          <p:cNvCxnSpPr>
            <a:cxnSpLocks noChangeShapeType="1"/>
            <a:stCxn id="14" idx="1"/>
            <a:endCxn id="8" idx="1"/>
          </p:cNvCxnSpPr>
          <p:nvPr/>
        </p:nvCxnSpPr>
        <p:spPr bwMode="auto">
          <a:xfrm rot="10800000" flipV="1">
            <a:off x="2667000" y="1530379"/>
            <a:ext cx="457200" cy="527021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2667000" y="38100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3810000" y="12954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4114800" y="41148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j-lt"/>
                <a:ea typeface="ＭＳ Ｐゴシック" charset="0"/>
                <a:cs typeface="ＭＳ Ｐゴシック" charset="0"/>
              </a:rPr>
              <a:t>T</a:t>
            </a:r>
            <a:r>
              <a:rPr lang="en-US" baseline="-25000">
                <a:latin typeface="+mj-lt"/>
                <a:ea typeface="ＭＳ Ｐゴシック" charset="0"/>
                <a:cs typeface="ＭＳ Ｐゴシック" charset="0"/>
              </a:rPr>
              <a:t>2</a:t>
            </a:r>
          </a:p>
        </p:txBody>
      </p:sp>
      <p:cxnSp>
        <p:nvCxnSpPr>
          <p:cNvPr id="19" name="AutoShape 24"/>
          <p:cNvCxnSpPr>
            <a:cxnSpLocks noChangeShapeType="1"/>
            <a:stCxn id="18" idx="0"/>
            <a:endCxn id="16" idx="1"/>
          </p:cNvCxnSpPr>
          <p:nvPr/>
        </p:nvCxnSpPr>
        <p:spPr bwMode="auto">
          <a:xfrm rot="16200000" flipV="1">
            <a:off x="3910670" y="3709332"/>
            <a:ext cx="304799" cy="506137"/>
          </a:xfrm>
          <a:prstGeom prst="curvedConnector3">
            <a:avLst>
              <a:gd name="adj1" fmla="val 17500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4343400" y="4821238"/>
            <a:ext cx="239001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B attempts to enter</a:t>
            </a:r>
          </a:p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 critical section</a:t>
            </a:r>
            <a:endParaRPr lang="en-US" sz="2000" baseline="-25000">
              <a:latin typeface="+mj-lt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1" name="AutoShape 26"/>
          <p:cNvCxnSpPr>
            <a:cxnSpLocks noChangeShapeType="1"/>
            <a:stCxn id="20" idx="1"/>
          </p:cNvCxnSpPr>
          <p:nvPr/>
        </p:nvCxnSpPr>
        <p:spPr bwMode="auto">
          <a:xfrm rot="10800000">
            <a:off x="3733800" y="3962401"/>
            <a:ext cx="609600" cy="121278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2" name="Rectangle 27"/>
          <p:cNvSpPr>
            <a:spLocks noChangeArrowheads="1"/>
          </p:cNvSpPr>
          <p:nvPr/>
        </p:nvSpPr>
        <p:spPr bwMode="auto">
          <a:xfrm>
            <a:off x="3810000" y="1981200"/>
            <a:ext cx="19812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fr-FR">
              <a:solidFill>
                <a:schemeClr val="folHlink"/>
              </a:solidFill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Line 28"/>
          <p:cNvSpPr>
            <a:spLocks noChangeShapeType="1"/>
          </p:cNvSpPr>
          <p:nvPr/>
        </p:nvSpPr>
        <p:spPr bwMode="auto">
          <a:xfrm>
            <a:off x="3810000" y="3810000"/>
            <a:ext cx="19812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5791200" y="12954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6096000" y="41148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j-lt"/>
                <a:ea typeface="ＭＳ Ｐゴシック" charset="0"/>
                <a:cs typeface="ＭＳ Ｐゴシック" charset="0"/>
              </a:rPr>
              <a:t>T</a:t>
            </a:r>
            <a:r>
              <a:rPr lang="en-US" baseline="-25000">
                <a:latin typeface="+mj-lt"/>
                <a:ea typeface="ＭＳ Ｐゴシック" charset="0"/>
                <a:cs typeface="ＭＳ Ｐゴシック" charset="0"/>
              </a:rPr>
              <a:t>3</a:t>
            </a:r>
          </a:p>
        </p:txBody>
      </p:sp>
      <p:cxnSp>
        <p:nvCxnSpPr>
          <p:cNvPr id="26" name="AutoShape 31"/>
          <p:cNvCxnSpPr>
            <a:cxnSpLocks noChangeShapeType="1"/>
            <a:stCxn id="25" idx="0"/>
            <a:endCxn id="23" idx="1"/>
          </p:cNvCxnSpPr>
          <p:nvPr/>
        </p:nvCxnSpPr>
        <p:spPr bwMode="auto">
          <a:xfrm rot="16200000" flipV="1">
            <a:off x="5892663" y="3710125"/>
            <a:ext cx="303212" cy="506137"/>
          </a:xfrm>
          <a:prstGeom prst="curvedConnector3">
            <a:avLst>
              <a:gd name="adj1" fmla="val 17591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7" name="Text Box 32"/>
          <p:cNvSpPr txBox="1">
            <a:spLocks noChangeArrowheads="1"/>
          </p:cNvSpPr>
          <p:nvPr/>
        </p:nvSpPr>
        <p:spPr bwMode="auto">
          <a:xfrm>
            <a:off x="6265863" y="1316038"/>
            <a:ext cx="28055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A leaves critical section</a:t>
            </a:r>
            <a:endParaRPr lang="en-US" sz="2000" baseline="-25000">
              <a:latin typeface="+mj-lt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8" name="AutoShape 33"/>
          <p:cNvCxnSpPr>
            <a:cxnSpLocks noChangeShapeType="1"/>
            <a:stCxn id="27" idx="1"/>
          </p:cNvCxnSpPr>
          <p:nvPr/>
        </p:nvCxnSpPr>
        <p:spPr bwMode="auto">
          <a:xfrm rot="10800000" flipV="1">
            <a:off x="5808663" y="1516092"/>
            <a:ext cx="457200" cy="54130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9" name="AutoShape 34"/>
          <p:cNvSpPr>
            <a:spLocks/>
          </p:cNvSpPr>
          <p:nvPr/>
        </p:nvSpPr>
        <p:spPr bwMode="auto">
          <a:xfrm rot="16200000">
            <a:off x="4719638" y="2509837"/>
            <a:ext cx="152400" cy="1838325"/>
          </a:xfrm>
          <a:prstGeom prst="rightBrace">
            <a:avLst>
              <a:gd name="adj1" fmla="val 10052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4222750" y="3032125"/>
            <a:ext cx="1263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B blocked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6096000" y="2687638"/>
            <a:ext cx="28862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B enters  critical section</a:t>
            </a:r>
            <a:endParaRPr lang="en-US" sz="2000" baseline="-25000">
              <a:latin typeface="+mj-lt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32" name="AutoShape 37"/>
          <p:cNvCxnSpPr>
            <a:cxnSpLocks noChangeShapeType="1"/>
            <a:stCxn id="31" idx="1"/>
            <a:endCxn id="23" idx="1"/>
          </p:cNvCxnSpPr>
          <p:nvPr/>
        </p:nvCxnSpPr>
        <p:spPr bwMode="auto">
          <a:xfrm rot="10800000" flipV="1">
            <a:off x="5791200" y="2887692"/>
            <a:ext cx="304800" cy="92389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5791200" y="3733800"/>
            <a:ext cx="1143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fr-FR">
              <a:solidFill>
                <a:schemeClr val="folHlink"/>
              </a:solidFill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>
            <a:off x="5791200" y="20574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35" name="Line 40"/>
          <p:cNvSpPr>
            <a:spLocks noChangeShapeType="1"/>
          </p:cNvSpPr>
          <p:nvPr/>
        </p:nvSpPr>
        <p:spPr bwMode="auto">
          <a:xfrm>
            <a:off x="6934200" y="12954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36" name="Text Box 41"/>
          <p:cNvSpPr txBox="1">
            <a:spLocks noChangeArrowheads="1"/>
          </p:cNvSpPr>
          <p:nvPr/>
        </p:nvSpPr>
        <p:spPr bwMode="auto">
          <a:xfrm>
            <a:off x="7239000" y="4114800"/>
            <a:ext cx="4026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j-lt"/>
                <a:ea typeface="ＭＳ Ｐゴシック" charset="0"/>
                <a:cs typeface="ＭＳ Ｐゴシック" charset="0"/>
              </a:rPr>
              <a:t>T</a:t>
            </a:r>
            <a:r>
              <a:rPr lang="en-US" baseline="-25000">
                <a:latin typeface="+mj-lt"/>
                <a:ea typeface="ＭＳ Ｐゴシック" charset="0"/>
                <a:cs typeface="ＭＳ Ｐゴシック" charset="0"/>
              </a:rPr>
              <a:t>4</a:t>
            </a:r>
          </a:p>
        </p:txBody>
      </p:sp>
      <p:cxnSp>
        <p:nvCxnSpPr>
          <p:cNvPr id="37" name="AutoShape 42"/>
          <p:cNvCxnSpPr>
            <a:cxnSpLocks noChangeShapeType="1"/>
            <a:stCxn id="36" idx="0"/>
          </p:cNvCxnSpPr>
          <p:nvPr/>
        </p:nvCxnSpPr>
        <p:spPr bwMode="auto">
          <a:xfrm rot="16200000" flipV="1">
            <a:off x="7042807" y="3717270"/>
            <a:ext cx="288924" cy="506136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8" name="Text Box 43"/>
          <p:cNvSpPr txBox="1">
            <a:spLocks noChangeArrowheads="1"/>
          </p:cNvSpPr>
          <p:nvPr/>
        </p:nvSpPr>
        <p:spPr bwMode="auto">
          <a:xfrm>
            <a:off x="7315200" y="4784725"/>
            <a:ext cx="18699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B leaves</a:t>
            </a:r>
          </a:p>
          <a:p>
            <a:pPr>
              <a:defRPr/>
            </a:pPr>
            <a:r>
              <a:rPr lang="en-US" sz="2000">
                <a:latin typeface="+mj-lt"/>
                <a:ea typeface="ＭＳ Ｐゴシック" charset="0"/>
                <a:cs typeface="ＭＳ Ｐゴシック" charset="0"/>
              </a:rPr>
              <a:t> critical section</a:t>
            </a:r>
            <a:endParaRPr lang="en-US" sz="2000" baseline="-25000">
              <a:latin typeface="+mj-lt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39" name="AutoShape 44"/>
          <p:cNvCxnSpPr>
            <a:cxnSpLocks noChangeShapeType="1"/>
            <a:stCxn id="38" idx="1"/>
            <a:endCxn id="33" idx="3"/>
          </p:cNvCxnSpPr>
          <p:nvPr/>
        </p:nvCxnSpPr>
        <p:spPr bwMode="auto">
          <a:xfrm rot="10800000">
            <a:off x="6934200" y="3848100"/>
            <a:ext cx="381000" cy="129056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0" name="Line 45"/>
          <p:cNvSpPr>
            <a:spLocks noChangeShapeType="1"/>
          </p:cNvSpPr>
          <p:nvPr/>
        </p:nvSpPr>
        <p:spPr bwMode="auto">
          <a:xfrm>
            <a:off x="6934200" y="20574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41" name="Line 46"/>
          <p:cNvSpPr>
            <a:spLocks noChangeShapeType="1"/>
          </p:cNvSpPr>
          <p:nvPr/>
        </p:nvSpPr>
        <p:spPr bwMode="auto">
          <a:xfrm>
            <a:off x="6934200" y="38100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42" name="Rectangle 50"/>
          <p:cNvSpPr>
            <a:spLocks noChangeArrowheads="1"/>
          </p:cNvSpPr>
          <p:nvPr/>
        </p:nvSpPr>
        <p:spPr bwMode="auto">
          <a:xfrm>
            <a:off x="2951163" y="5562600"/>
            <a:ext cx="25114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Mutual Exclusion</a:t>
            </a:r>
          </a:p>
        </p:txBody>
      </p:sp>
      <p:sp>
        <p:nvSpPr>
          <p:cNvPr id="43" name="Text Box 51"/>
          <p:cNvSpPr txBox="1">
            <a:spLocks noChangeArrowheads="1"/>
          </p:cNvSpPr>
          <p:nvPr/>
        </p:nvSpPr>
        <p:spPr bwMode="auto">
          <a:xfrm>
            <a:off x="462372" y="5900485"/>
            <a:ext cx="82192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At any given time, only one process is in the critical section </a:t>
            </a:r>
          </a:p>
        </p:txBody>
      </p:sp>
    </p:spTree>
    <p:extLst>
      <p:ext uri="{BB962C8B-B14F-4D97-AF65-F5344CB8AC3E}">
        <p14:creationId xmlns:p14="http://schemas.microsoft.com/office/powerpoint/2010/main" val="348458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5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3" grpId="0" animBg="1"/>
      <p:bldP spid="14" grpId="0"/>
      <p:bldP spid="18" grpId="0"/>
      <p:bldP spid="20" grpId="0"/>
      <p:bldP spid="22" grpId="0" animBg="1"/>
      <p:bldP spid="25" grpId="0"/>
      <p:bldP spid="27" grpId="0"/>
      <p:bldP spid="29" grpId="0" animBg="1"/>
      <p:bldP spid="30" grpId="0"/>
      <p:bldP spid="31" grpId="0"/>
      <p:bldP spid="33" grpId="0" animBg="1"/>
      <p:bldP spid="36" grpId="0"/>
      <p:bldP spid="38" grpId="0"/>
      <p:bldP spid="42" grpId="0"/>
      <p:bldP spid="43" grpId="0"/>
      <p:bldP spid="4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Critical-Section (CS)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Informally, the following are the requirements of CS problem</a:t>
            </a:r>
          </a:p>
          <a:p>
            <a:pPr lvl="3"/>
            <a:endParaRPr lang="en-US" dirty="0"/>
          </a:p>
          <a:p>
            <a:r>
              <a:rPr lang="en-US" dirty="0"/>
              <a:t>No two processes may be simultaneously inside their critical sections</a:t>
            </a:r>
          </a:p>
          <a:p>
            <a:pPr lvl="3"/>
            <a:endParaRPr lang="en-US" dirty="0"/>
          </a:p>
          <a:p>
            <a:r>
              <a:rPr lang="en-US" dirty="0"/>
              <a:t>No assumptions may be made about the speed or the number of processors</a:t>
            </a:r>
          </a:p>
          <a:p>
            <a:pPr lvl="3"/>
            <a:endParaRPr lang="en-US" dirty="0"/>
          </a:p>
          <a:p>
            <a:r>
              <a:rPr lang="en-US" dirty="0"/>
              <a:t>No process running outside its critical section may block other processes</a:t>
            </a:r>
          </a:p>
          <a:p>
            <a:pPr lvl="3"/>
            <a:endParaRPr lang="en-US" dirty="0"/>
          </a:p>
          <a:p>
            <a:r>
              <a:rPr lang="en-US" dirty="0"/>
              <a:t>No process should have to wait forever to enter its critical section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79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304800" y="1124744"/>
            <a:ext cx="8534400" cy="150607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Critical-Section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Mutual exclusion</a:t>
            </a:r>
          </a:p>
          <a:p>
            <a:pPr lvl="1"/>
            <a:r>
              <a:rPr lang="en-US" dirty="0"/>
              <a:t>Only one process at a time is allowed to execute in its critical section </a:t>
            </a:r>
          </a:p>
          <a:p>
            <a:r>
              <a:rPr lang="en-US" dirty="0">
                <a:solidFill>
                  <a:srgbClr val="0070C0"/>
                </a:solidFill>
              </a:rPr>
              <a:t>Progress</a:t>
            </a:r>
          </a:p>
          <a:p>
            <a:pPr lvl="1"/>
            <a:r>
              <a:rPr lang="en-US" dirty="0"/>
              <a:t>Processes cannot be prevented forever from entering CS</a:t>
            </a:r>
          </a:p>
          <a:p>
            <a:pPr lvl="2"/>
            <a:endParaRPr lang="en-US" dirty="0"/>
          </a:p>
          <a:p>
            <a:r>
              <a:rPr lang="en-US" dirty="0"/>
              <a:t>Progress: Distinguish between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Fairness (no starvation): </a:t>
            </a:r>
            <a:r>
              <a:rPr lang="en-US" dirty="0"/>
              <a:t>Every process makes progress </a:t>
            </a:r>
          </a:p>
          <a:p>
            <a:pPr lvl="2"/>
            <a:r>
              <a:rPr lang="en-US" b="1" dirty="0"/>
              <a:t>Bounded waiting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Deadlock freedom: </a:t>
            </a:r>
            <a:r>
              <a:rPr lang="en-US" dirty="0"/>
              <a:t>At least one process can make progress</a:t>
            </a:r>
          </a:p>
          <a:p>
            <a:pPr lvl="2"/>
            <a:r>
              <a:rPr lang="en-US" dirty="0"/>
              <a:t>Process running outside the critical section should not have influence</a:t>
            </a:r>
          </a:p>
          <a:p>
            <a:pPr lvl="3"/>
            <a:endParaRPr lang="en-US" dirty="0"/>
          </a:p>
          <a:p>
            <a:r>
              <a:rPr lang="en-US" dirty="0"/>
              <a:t>Assumptions </a:t>
            </a:r>
          </a:p>
          <a:p>
            <a:pPr lvl="1"/>
            <a:r>
              <a:rPr lang="en-US" dirty="0"/>
              <a:t>No process stays forever in CS</a:t>
            </a:r>
          </a:p>
          <a:p>
            <a:pPr lvl="1"/>
            <a:r>
              <a:rPr lang="en-US" dirty="0"/>
              <a:t>No  assumption on the number of processors </a:t>
            </a:r>
          </a:p>
          <a:p>
            <a:pPr lvl="1"/>
            <a:r>
              <a:rPr lang="en-US" dirty="0"/>
              <a:t>No assumption on actual speed of processes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99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Critical-Section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Mutual exclusion</a:t>
            </a:r>
          </a:p>
          <a:p>
            <a:pPr lvl="3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Progress</a:t>
            </a:r>
          </a:p>
          <a:p>
            <a:pPr lvl="3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Bounded waiting </a:t>
            </a:r>
          </a:p>
          <a:p>
            <a:pPr lvl="1"/>
            <a:r>
              <a:rPr lang="en-US" dirty="0"/>
              <a:t>Before request by a process to enter its critical section is granted</a:t>
            </a:r>
          </a:p>
          <a:p>
            <a:pPr lvl="1"/>
            <a:r>
              <a:rPr lang="en-US" dirty="0"/>
              <a:t>A bound must exist on the number of times that other processes are allowed to enter their critical sections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95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Solution – Lock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052736"/>
            <a:ext cx="8496300" cy="2664296"/>
          </a:xfrm>
        </p:spPr>
        <p:txBody>
          <a:bodyPr/>
          <a:lstStyle/>
          <a:p>
            <a:r>
              <a:rPr lang="en-US" dirty="0"/>
              <a:t>Before entering a critical section a process should know if any other is already in the critical section or not</a:t>
            </a:r>
          </a:p>
          <a:p>
            <a:r>
              <a:rPr lang="en-US" dirty="0"/>
              <a:t>Consider having a </a:t>
            </a:r>
            <a:r>
              <a:rPr lang="en-US" dirty="0">
                <a:latin typeface="Consolas" panose="020B0609020204030204" pitchFamily="49" charset="0"/>
              </a:rPr>
              <a:t>FLAG</a:t>
            </a:r>
            <a:r>
              <a:rPr lang="en-US" dirty="0"/>
              <a:t> (also called lock)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FLAG = FALSE</a:t>
            </a:r>
          </a:p>
          <a:p>
            <a:pPr lvl="2"/>
            <a:r>
              <a:rPr lang="en-US" dirty="0"/>
              <a:t>A process is in the critical section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FLAG = TRUE</a:t>
            </a:r>
          </a:p>
          <a:p>
            <a:pPr lvl="2"/>
            <a:r>
              <a:rPr lang="en-US" dirty="0"/>
              <a:t>No process is in the critical section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531640" y="3519428"/>
            <a:ext cx="6080720" cy="286232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wait while someone else is in the 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critical region 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1. while (FLAG == FALSE);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stop others from entering critical region 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2. FLAG = FALSE;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3.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after critical section let others enter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//the critical region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4. FLAG = TRUE;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5. </a:t>
            </a:r>
            <a:r>
              <a:rPr lang="en-US" sz="18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79921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  <p:bldP spid="6" grpId="1" uiExpand="1" build="allAtOnc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Variables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4" name="Text Box 37"/>
          <p:cNvSpPr txBox="1">
            <a:spLocks noChangeArrowheads="1"/>
          </p:cNvSpPr>
          <p:nvPr/>
        </p:nvSpPr>
        <p:spPr bwMode="auto">
          <a:xfrm>
            <a:off x="1239838" y="1524000"/>
            <a:ext cx="46275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Process 1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1.while (FLAG == FALSE);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2.FLAG = FALSE;</a:t>
            </a:r>
          </a:p>
          <a:p>
            <a:pPr eaLnBrk="0" hangingPunct="0">
              <a:defRPr/>
            </a:pPr>
            <a:endParaRPr lang="en-US" sz="1400" b="1" dirty="0">
              <a:solidFill>
                <a:srgbClr val="CC3300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Rectangle 40"/>
          <p:cNvSpPr>
            <a:spLocks noChangeArrowheads="1"/>
          </p:cNvSpPr>
          <p:nvPr/>
        </p:nvSpPr>
        <p:spPr bwMode="auto">
          <a:xfrm>
            <a:off x="1239838" y="2743200"/>
            <a:ext cx="457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4.FLAG = TRUE;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5.noncritical_section();</a:t>
            </a:r>
          </a:p>
        </p:txBody>
      </p:sp>
      <p:sp>
        <p:nvSpPr>
          <p:cNvPr id="46" name="Text Box 42"/>
          <p:cNvSpPr txBox="1">
            <a:spLocks noChangeArrowheads="1"/>
          </p:cNvSpPr>
          <p:nvPr/>
        </p:nvSpPr>
        <p:spPr bwMode="auto">
          <a:xfrm>
            <a:off x="4211638" y="1524000"/>
            <a:ext cx="46275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Process 2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1.while (FLAG == FALSE);</a:t>
            </a:r>
          </a:p>
        </p:txBody>
      </p:sp>
      <p:sp>
        <p:nvSpPr>
          <p:cNvPr id="47" name="Rectangle 44"/>
          <p:cNvSpPr>
            <a:spLocks noChangeArrowheads="1"/>
          </p:cNvSpPr>
          <p:nvPr/>
        </p:nvSpPr>
        <p:spPr bwMode="auto">
          <a:xfrm>
            <a:off x="4211638" y="2009775"/>
            <a:ext cx="4572000" cy="738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1.while (FLAG == FALSE);</a:t>
            </a:r>
          </a:p>
          <a:p>
            <a:pPr eaLnBrk="0" hangingPunct="0">
              <a:defRPr/>
            </a:pPr>
            <a:r>
              <a:rPr lang="en-US" sz="1400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2.</a:t>
            </a:r>
            <a:endParaRPr lang="en-US" sz="1400" b="1" dirty="0">
              <a:solidFill>
                <a:srgbClr val="CC3300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endParaRPr lang="en-US" sz="1400" b="1" dirty="0">
              <a:solidFill>
                <a:srgbClr val="CC3300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Rectangle 31"/>
          <p:cNvSpPr>
            <a:spLocks noChangeArrowheads="1"/>
          </p:cNvSpPr>
          <p:nvPr/>
        </p:nvSpPr>
        <p:spPr bwMode="auto">
          <a:xfrm>
            <a:off x="4191000" y="2971800"/>
            <a:ext cx="19050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Timeout</a:t>
            </a:r>
          </a:p>
        </p:txBody>
      </p:sp>
      <p:sp>
        <p:nvSpPr>
          <p:cNvPr id="49" name="Rectangle 45"/>
          <p:cNvSpPr>
            <a:spLocks noChangeArrowheads="1"/>
          </p:cNvSpPr>
          <p:nvPr/>
        </p:nvSpPr>
        <p:spPr bwMode="auto">
          <a:xfrm>
            <a:off x="1849438" y="4495800"/>
            <a:ext cx="2895600" cy="990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Process 2 Busy Waits  </a:t>
            </a:r>
          </a:p>
        </p:txBody>
      </p:sp>
      <p:sp>
        <p:nvSpPr>
          <p:cNvPr id="50" name="Line 46"/>
          <p:cNvSpPr>
            <a:spLocks noChangeShapeType="1"/>
          </p:cNvSpPr>
          <p:nvPr/>
        </p:nvSpPr>
        <p:spPr bwMode="auto">
          <a:xfrm flipV="1">
            <a:off x="3297238" y="2209800"/>
            <a:ext cx="990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240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Rectangle 47"/>
          <p:cNvSpPr>
            <a:spLocks noChangeArrowheads="1"/>
          </p:cNvSpPr>
          <p:nvPr/>
        </p:nvSpPr>
        <p:spPr bwMode="auto">
          <a:xfrm>
            <a:off x="6846888" y="1261430"/>
            <a:ext cx="1905000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FLAG = TRUE</a:t>
            </a:r>
          </a:p>
        </p:txBody>
      </p:sp>
      <p:sp>
        <p:nvSpPr>
          <p:cNvPr id="52" name="Rectangle 48"/>
          <p:cNvSpPr>
            <a:spLocks noChangeArrowheads="1"/>
          </p:cNvSpPr>
          <p:nvPr/>
        </p:nvSpPr>
        <p:spPr bwMode="auto">
          <a:xfrm>
            <a:off x="6862763" y="1258094"/>
            <a:ext cx="19050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FLAG = FALSE</a:t>
            </a: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1239838" y="2514600"/>
            <a:ext cx="227177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3.critical_section();</a:t>
            </a:r>
          </a:p>
        </p:txBody>
      </p:sp>
      <p:sp>
        <p:nvSpPr>
          <p:cNvPr id="54" name="Rectangle 51"/>
          <p:cNvSpPr>
            <a:spLocks noChangeArrowheads="1"/>
          </p:cNvSpPr>
          <p:nvPr/>
        </p:nvSpPr>
        <p:spPr bwMode="auto">
          <a:xfrm>
            <a:off x="6870701" y="1272625"/>
            <a:ext cx="19050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FLAG = TRUE</a:t>
            </a:r>
          </a:p>
        </p:txBody>
      </p:sp>
      <p:sp>
        <p:nvSpPr>
          <p:cNvPr id="55" name="Text Box 57"/>
          <p:cNvSpPr txBox="1">
            <a:spLocks noChangeArrowheads="1"/>
          </p:cNvSpPr>
          <p:nvPr/>
        </p:nvSpPr>
        <p:spPr bwMode="auto">
          <a:xfrm>
            <a:off x="4211638" y="2238375"/>
            <a:ext cx="46275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2.FLAG = FALSE;</a:t>
            </a:r>
          </a:p>
          <a:p>
            <a:pPr eaLnBrk="0" hangingPunct="0">
              <a:defRPr/>
            </a:pPr>
            <a:endParaRPr lang="en-US" sz="1400" b="1" dirty="0">
              <a:solidFill>
                <a:srgbClr val="CC3300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Rectangle 58"/>
          <p:cNvSpPr>
            <a:spLocks noChangeArrowheads="1"/>
          </p:cNvSpPr>
          <p:nvPr/>
        </p:nvSpPr>
        <p:spPr bwMode="auto">
          <a:xfrm>
            <a:off x="1301551" y="3970794"/>
            <a:ext cx="70231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No two processes may be simultaneously inside their critical sections</a:t>
            </a:r>
          </a:p>
        </p:txBody>
      </p:sp>
      <p:sp>
        <p:nvSpPr>
          <p:cNvPr id="57" name="Rectangle 59"/>
          <p:cNvSpPr>
            <a:spLocks noChangeArrowheads="1"/>
          </p:cNvSpPr>
          <p:nvPr/>
        </p:nvSpPr>
        <p:spPr bwMode="auto">
          <a:xfrm>
            <a:off x="1468438" y="4724400"/>
            <a:ext cx="5191794" cy="990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kumimoji="1" lang="en-US" altLang="zh-TW" sz="2100" dirty="0">
                <a:solidFill>
                  <a:srgbClr val="333333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Process 2 ‘s Program counter is at Line 2</a:t>
            </a:r>
          </a:p>
        </p:txBody>
      </p:sp>
      <p:sp>
        <p:nvSpPr>
          <p:cNvPr id="58" name="Line 60"/>
          <p:cNvSpPr>
            <a:spLocks noChangeShapeType="1"/>
          </p:cNvSpPr>
          <p:nvPr/>
        </p:nvSpPr>
        <p:spPr bwMode="auto">
          <a:xfrm flipV="1">
            <a:off x="3373438" y="2438400"/>
            <a:ext cx="990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240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9" name="Rectangle 61"/>
          <p:cNvSpPr>
            <a:spLocks noChangeArrowheads="1"/>
          </p:cNvSpPr>
          <p:nvPr/>
        </p:nvSpPr>
        <p:spPr bwMode="auto">
          <a:xfrm>
            <a:off x="6863258" y="1265238"/>
            <a:ext cx="19050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FLAG = FALSE</a:t>
            </a:r>
          </a:p>
        </p:txBody>
      </p:sp>
      <p:sp>
        <p:nvSpPr>
          <p:cNvPr id="60" name="Rectangle 63"/>
          <p:cNvSpPr>
            <a:spLocks noChangeArrowheads="1"/>
          </p:cNvSpPr>
          <p:nvPr/>
        </p:nvSpPr>
        <p:spPr bwMode="auto">
          <a:xfrm>
            <a:off x="6850064" y="1258094"/>
            <a:ext cx="19050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FLAG = FALSE</a:t>
            </a:r>
          </a:p>
        </p:txBody>
      </p:sp>
      <p:sp>
        <p:nvSpPr>
          <p:cNvPr id="61" name="Text Box 64"/>
          <p:cNvSpPr txBox="1">
            <a:spLocks noChangeArrowheads="1"/>
          </p:cNvSpPr>
          <p:nvPr/>
        </p:nvSpPr>
        <p:spPr bwMode="auto">
          <a:xfrm>
            <a:off x="4236045" y="2270286"/>
            <a:ext cx="46275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en-US" sz="1400" b="1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3.critical_section();</a:t>
            </a:r>
          </a:p>
        </p:txBody>
      </p:sp>
      <p:sp>
        <p:nvSpPr>
          <p:cNvPr id="62" name="Rectangle 65"/>
          <p:cNvSpPr>
            <a:spLocks noChangeArrowheads="1"/>
          </p:cNvSpPr>
          <p:nvPr/>
        </p:nvSpPr>
        <p:spPr bwMode="auto">
          <a:xfrm>
            <a:off x="1676400" y="5867400"/>
            <a:ext cx="59475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0070C0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Process 1 forgot that it was Process 2</a:t>
            </a:r>
            <a:r>
              <a:rPr lang="en-US" altLang="ja-JP" sz="2400" dirty="0">
                <a:solidFill>
                  <a:srgbClr val="0070C0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turn</a:t>
            </a:r>
            <a:endParaRPr lang="en-US" altLang="en-US" sz="2400" dirty="0">
              <a:solidFill>
                <a:srgbClr val="0070C0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37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1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 autoUpdateAnimBg="0"/>
      <p:bldP spid="44" grpId="1" build="p"/>
      <p:bldP spid="44" grpId="2" build="p"/>
      <p:bldP spid="45" grpId="0"/>
      <p:bldP spid="45" grpId="1"/>
      <p:bldP spid="46" grpId="0" build="p" autoUpdateAnimBg="0"/>
      <p:bldP spid="47" grpId="0" animBg="1"/>
      <p:bldP spid="48" grpId="0" animBg="1" autoUpdateAnimBg="0"/>
      <p:bldP spid="48" grpId="1" animBg="1"/>
      <p:bldP spid="48" grpId="2" animBg="1"/>
      <p:bldP spid="48" grpId="3" animBg="1"/>
      <p:bldP spid="48" grpId="4" animBg="1"/>
      <p:bldP spid="48" grpId="5" animBg="1"/>
      <p:bldP spid="48" grpId="6" animBg="1"/>
      <p:bldP spid="48" grpId="7" animBg="1"/>
      <p:bldP spid="48" grpId="8" animBg="1"/>
      <p:bldP spid="48" grpId="9" animBg="1"/>
      <p:bldP spid="49" grpId="0" animBg="1" autoUpdateAnimBg="0"/>
      <p:bldP spid="49" grpId="1" animBg="1"/>
      <p:bldP spid="52" grpId="0" animBg="1" autoUpdateAnimBg="0"/>
      <p:bldP spid="53" grpId="0"/>
      <p:bldP spid="53" grpId="1"/>
      <p:bldP spid="53" grpId="2"/>
      <p:bldP spid="54" grpId="0" animBg="1" autoUpdateAnimBg="0"/>
      <p:bldP spid="55" grpId="0" build="p" autoUpdateAnimBg="0"/>
      <p:bldP spid="56" grpId="0"/>
      <p:bldP spid="56" grpId="1"/>
      <p:bldP spid="57" grpId="0" animBg="1" autoUpdateAnimBg="0"/>
      <p:bldP spid="57" grpId="1" animBg="1"/>
      <p:bldP spid="59" grpId="0" animBg="1" autoUpdateAnimBg="0"/>
      <p:bldP spid="60" grpId="0" animBg="1" autoUpdateAnimBg="0"/>
      <p:bldP spid="61" grpId="0" build="p" autoUpdateAnimBg="0"/>
      <p:bldP spid="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Algorithm does not satisfy critical section requirements </a:t>
            </a:r>
          </a:p>
          <a:p>
            <a:pPr lvl="1"/>
            <a:r>
              <a:rPr lang="en-US" dirty="0"/>
              <a:t>Progress is ok, but does NOT satisfy mutual exclusion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696368" y="1268760"/>
            <a:ext cx="6080720" cy="286232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wait while someone else is in the 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critical region 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1. while (FLAG == FALSE);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stop others from entering critical region 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2. FLAG = FALSE;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3.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after critical section let others enter</a:t>
            </a:r>
          </a:p>
          <a:p>
            <a:pPr eaLnBrk="0" hangingPunct="0">
              <a:defRPr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//the critical region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4. FLAG = TRUE;</a:t>
            </a:r>
          </a:p>
          <a:p>
            <a:pPr eaLnBrk="0" hangingPunct="0">
              <a:defRPr/>
            </a:pP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5. </a:t>
            </a:r>
            <a:r>
              <a:rPr lang="en-US" sz="18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8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92371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Solution – Strict Alternation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remember </a:t>
            </a:r>
            <a:r>
              <a:rPr lang="en-US" dirty="0">
                <a:solidFill>
                  <a:srgbClr val="0070C0"/>
                </a:solidFill>
              </a:rPr>
              <a:t>“Who’s turn it is?”</a:t>
            </a:r>
          </a:p>
          <a:p>
            <a:r>
              <a:rPr lang="en-US" dirty="0"/>
              <a:t>If its Process 1’s turn then Process 2 should wait</a:t>
            </a:r>
          </a:p>
          <a:p>
            <a:r>
              <a:rPr lang="en-US" dirty="0"/>
              <a:t>If its Process 2’s turn then Process 1 should wait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11561" y="2996952"/>
            <a:ext cx="3528392" cy="2754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1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1);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CC33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2;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40611" y="2996952"/>
            <a:ext cx="3583954" cy="2754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2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2);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1;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736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Alternation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4211638" y="2971800"/>
            <a:ext cx="4627562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3.Turn = 1;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4.noncritical_section();</a:t>
            </a:r>
          </a:p>
          <a:p>
            <a:pPr eaLnBrk="0" hangingPunct="0">
              <a:defRPr/>
            </a:pPr>
            <a:endParaRPr lang="en-US" sz="1400" b="1" dirty="0">
              <a:solidFill>
                <a:srgbClr val="CC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211638" y="1219200"/>
            <a:ext cx="462756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2</a:t>
            </a:r>
          </a:p>
          <a:p>
            <a:pPr eaLnBrk="0" hangingPunct="0">
              <a:defRPr/>
            </a:pPr>
            <a:r>
              <a:rPr lang="en-US" sz="14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While(1)</a:t>
            </a:r>
          </a:p>
          <a:p>
            <a:pPr eaLnBrk="0" hangingPunct="0">
              <a:defRPr/>
            </a:pPr>
            <a:r>
              <a:rPr lang="en-US" sz="14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1.while (Turn != 2);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191000" y="1981200"/>
            <a:ext cx="4572000" cy="738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1.while (Turn != 2);</a:t>
            </a:r>
          </a:p>
          <a:p>
            <a:pPr eaLnBrk="0" hangingPunct="0">
              <a:defRPr/>
            </a:pPr>
            <a:endParaRPr lang="en-US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</a:t>
            </a:r>
            <a:endParaRPr lang="en-US" sz="1400" b="1" dirty="0">
              <a:solidFill>
                <a:srgbClr val="CC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4197350" y="2411410"/>
            <a:ext cx="462756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2.critical_section();</a:t>
            </a:r>
          </a:p>
        </p:txBody>
      </p:sp>
      <p:sp>
        <p:nvSpPr>
          <p:cNvPr id="10" name="Rectangle 21"/>
          <p:cNvSpPr>
            <a:spLocks noChangeArrowheads="1"/>
          </p:cNvSpPr>
          <p:nvPr/>
        </p:nvSpPr>
        <p:spPr bwMode="auto">
          <a:xfrm>
            <a:off x="6792528" y="1139925"/>
            <a:ext cx="19050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 1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239838" y="1295400"/>
            <a:ext cx="239605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1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While(1)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1.while (Turn != 1);</a:t>
            </a:r>
          </a:p>
          <a:p>
            <a:pPr eaLnBrk="0" hangingPunct="0">
              <a:defRPr/>
            </a:pPr>
            <a:endParaRPr lang="en-US" sz="1400" b="1" dirty="0">
              <a:solidFill>
                <a:srgbClr val="CC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239838" y="2924175"/>
            <a:ext cx="457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3.Turn = 2;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4.noncritical_section();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200400" y="3505200"/>
            <a:ext cx="19050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Timeout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688033" y="4493420"/>
            <a:ext cx="3021707" cy="990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2 Busy Waits  </a:t>
            </a: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V="1">
            <a:off x="3297238" y="2209800"/>
            <a:ext cx="990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239838" y="2514600"/>
            <a:ext cx="227177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2.critical_section();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468438" y="4724400"/>
            <a:ext cx="5119786" cy="990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kumimoji="1" lang="en-US" altLang="zh-TW" sz="21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2 ‘s Program counter is at Line 2</a:t>
            </a: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V="1">
            <a:off x="3373438" y="2667000"/>
            <a:ext cx="1046162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6802054" y="1139925"/>
            <a:ext cx="19050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 2</a:t>
            </a: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837406" y="4036219"/>
            <a:ext cx="71643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one Process is in the Critical Section at a time</a:t>
            </a: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81000" y="5638800"/>
            <a:ext cx="2895600" cy="990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1 Busy Waits  </a:t>
            </a:r>
          </a:p>
        </p:txBody>
      </p:sp>
      <p:sp>
        <p:nvSpPr>
          <p:cNvPr id="22" name="Line 25"/>
          <p:cNvSpPr>
            <a:spLocks noChangeShapeType="1"/>
          </p:cNvSpPr>
          <p:nvPr/>
        </p:nvSpPr>
        <p:spPr bwMode="auto">
          <a:xfrm flipH="1" flipV="1">
            <a:off x="1447800" y="2209800"/>
            <a:ext cx="3810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auto">
          <a:xfrm>
            <a:off x="6792528" y="1157387"/>
            <a:ext cx="19050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 1</a:t>
            </a:r>
          </a:p>
        </p:txBody>
      </p:sp>
    </p:spTree>
    <p:extLst>
      <p:ext uri="{BB962C8B-B14F-4D97-AF65-F5344CB8AC3E}">
        <p14:creationId xmlns:p14="http://schemas.microsoft.com/office/powerpoint/2010/main" val="319196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1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8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  <p:bldP spid="8" grpId="0" animBg="1"/>
      <p:bldP spid="9" grpId="0" build="p" autoUpdateAnimBg="0"/>
      <p:bldP spid="11" grpId="0" build="p" autoUpdateAnimBg="0"/>
      <p:bldP spid="11" grpId="1" build="p"/>
      <p:bldP spid="11" grpId="2" build="p"/>
      <p:bldP spid="12" grpId="0"/>
      <p:bldP spid="12" grpId="1"/>
      <p:bldP spid="13" grpId="0" animBg="1" autoUpdateAnimBg="0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4" grpId="0" animBg="1" autoUpdateAnimBg="0"/>
      <p:bldP spid="14" grpId="1" animBg="1"/>
      <p:bldP spid="16" grpId="0"/>
      <p:bldP spid="16" grpId="1"/>
      <p:bldP spid="16" grpId="2"/>
      <p:bldP spid="17" grpId="0" animBg="1" autoUpdateAnimBg="0"/>
      <p:bldP spid="17" grpId="1" animBg="1"/>
      <p:bldP spid="19" grpId="0" animBg="1" autoUpdateAnimBg="0"/>
      <p:bldP spid="20" grpId="0"/>
      <p:bldP spid="21" grpId="0" animBg="1" autoUpdateAnimBg="0"/>
      <p:bldP spid="21" grpId="1" animBg="1"/>
      <p:bldP spid="23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Alternation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problem with strict alteration?</a:t>
            </a:r>
          </a:p>
          <a:p>
            <a:pPr lvl="1"/>
            <a:r>
              <a:rPr lang="en-US"/>
              <a:t>Satisfies </a:t>
            </a:r>
            <a:r>
              <a:rPr lang="en-US" dirty="0"/>
              <a:t>mutual exclusion, but not progress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83568" y="1124744"/>
            <a:ext cx="3528392" cy="2754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1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1);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CC33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2;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012618" y="1124744"/>
            <a:ext cx="3583954" cy="2754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2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2);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1;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5485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Alternation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>
                <a:latin typeface="+mj-lt"/>
              </a:rPr>
              <a:t>Process 1 </a:t>
            </a:r>
          </a:p>
          <a:p>
            <a:pPr lvl="1"/>
            <a:r>
              <a:rPr lang="en-US" sz="1800" dirty="0">
                <a:latin typeface="+mj-lt"/>
              </a:rPr>
              <a:t>Runs, Enters its critical section, Exits critical section, Sets turn to 2</a:t>
            </a:r>
          </a:p>
          <a:p>
            <a:r>
              <a:rPr lang="en-US" sz="2000" dirty="0">
                <a:latin typeface="+mj-lt"/>
              </a:rPr>
              <a:t>Process 1 is now in its non-critical section</a:t>
            </a:r>
          </a:p>
          <a:p>
            <a:pPr lvl="1"/>
            <a:r>
              <a:rPr lang="en-US" sz="1800" dirty="0">
                <a:latin typeface="+mj-lt"/>
              </a:rPr>
              <a:t>Assume this non-critical procedure takes a long time</a:t>
            </a:r>
          </a:p>
          <a:p>
            <a:r>
              <a:rPr lang="en-US" sz="2000" dirty="0">
                <a:latin typeface="+mj-lt"/>
              </a:rPr>
              <a:t>Process 2, which is a much faster process, now runs</a:t>
            </a:r>
          </a:p>
          <a:p>
            <a:pPr lvl="1"/>
            <a:r>
              <a:rPr lang="en-US" sz="1800" dirty="0">
                <a:latin typeface="+mj-lt"/>
              </a:rPr>
              <a:t>Once it has left its critical section, sets turn to 1</a:t>
            </a:r>
          </a:p>
          <a:p>
            <a:r>
              <a:rPr lang="en-US" sz="2000" dirty="0">
                <a:latin typeface="+mj-lt"/>
              </a:rPr>
              <a:t>Process 2 executes its non-critical section very quickly and returns to the top of the procedure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27584" y="1110953"/>
            <a:ext cx="3096344" cy="236988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1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1);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CC33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2;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32040" y="1134840"/>
            <a:ext cx="3231790" cy="236988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2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2);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1;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14" name="Rectangle 26"/>
          <p:cNvSpPr>
            <a:spLocks noChangeArrowheads="1"/>
          </p:cNvSpPr>
          <p:nvPr/>
        </p:nvSpPr>
        <p:spPr bwMode="auto">
          <a:xfrm>
            <a:off x="7092280" y="279078"/>
            <a:ext cx="1595896" cy="6874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 1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80680" y="3040384"/>
            <a:ext cx="64807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572000" y="2319780"/>
            <a:ext cx="64807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79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Alternation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Process 1 is in its non-critical section</a:t>
            </a:r>
          </a:p>
          <a:p>
            <a:r>
              <a:rPr lang="en-US" sz="2000" dirty="0">
                <a:latin typeface="+mj-lt"/>
              </a:rPr>
              <a:t>Process 2 is waiting for turn to be set to 2</a:t>
            </a:r>
          </a:p>
          <a:p>
            <a:pPr lvl="1"/>
            <a:r>
              <a:rPr lang="en-US" sz="1800" dirty="0">
                <a:latin typeface="+mj-lt"/>
              </a:rPr>
              <a:t>There is no reason why process 2 cannot enter its critical region as process 1 is not in its critical region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27584" y="1110953"/>
            <a:ext cx="3096344" cy="236988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1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1);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CC33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2;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32040" y="1134840"/>
            <a:ext cx="3231790" cy="236988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2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2);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1;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14" name="Rectangle 26"/>
          <p:cNvSpPr>
            <a:spLocks noChangeArrowheads="1"/>
          </p:cNvSpPr>
          <p:nvPr/>
        </p:nvSpPr>
        <p:spPr bwMode="auto">
          <a:xfrm>
            <a:off x="7092280" y="279078"/>
            <a:ext cx="1595896" cy="6874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 1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80680" y="3040384"/>
            <a:ext cx="64807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572000" y="2319780"/>
            <a:ext cx="64807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23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Alternation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340768"/>
            <a:ext cx="8496300" cy="403244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Problem</a:t>
            </a:r>
            <a:r>
              <a:rPr lang="en-US" dirty="0"/>
              <a:t> with strict alteration</a:t>
            </a:r>
          </a:p>
          <a:p>
            <a:r>
              <a:rPr lang="en-US" dirty="0">
                <a:solidFill>
                  <a:srgbClr val="0070C0"/>
                </a:solidFill>
              </a:rPr>
              <a:t>Violation: </a:t>
            </a:r>
            <a:r>
              <a:rPr lang="en-US" dirty="0"/>
              <a:t>No process running outside its critical section may block other processes</a:t>
            </a:r>
          </a:p>
          <a:p>
            <a:r>
              <a:rPr lang="en-US" dirty="0"/>
              <a:t>This algorithm requires that the processes strictly alternate in entering the critical section</a:t>
            </a:r>
          </a:p>
          <a:p>
            <a:r>
              <a:rPr lang="en-US" dirty="0"/>
              <a:t>Taking turns is </a:t>
            </a:r>
            <a:r>
              <a:rPr lang="en-US" dirty="0">
                <a:solidFill>
                  <a:srgbClr val="0070C0"/>
                </a:solidFill>
              </a:rPr>
              <a:t>not a good </a:t>
            </a:r>
            <a:r>
              <a:rPr lang="en-US" dirty="0"/>
              <a:t>idea </a:t>
            </a:r>
            <a:r>
              <a:rPr lang="en-US" dirty="0">
                <a:solidFill>
                  <a:srgbClr val="0070C0"/>
                </a:solidFill>
              </a:rPr>
              <a:t>if one of the processes is slower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83568" y="1124744"/>
            <a:ext cx="3528392" cy="2754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1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1);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CC33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2;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012618" y="1124744"/>
            <a:ext cx="3583954" cy="2754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2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while (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!= 2);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turn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1;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4194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052736"/>
            <a:ext cx="8496300" cy="5257006"/>
          </a:xfrm>
        </p:spPr>
        <p:txBody>
          <a:bodyPr/>
          <a:lstStyle/>
          <a:p>
            <a:r>
              <a:rPr lang="en-US" dirty="0"/>
              <a:t>Strick alternation </a:t>
            </a:r>
          </a:p>
          <a:p>
            <a:pPr lvl="1"/>
            <a:r>
              <a:rPr lang="en-US" dirty="0"/>
              <a:t>Although it was Process 1’s </a:t>
            </a:r>
            <a:r>
              <a:rPr lang="en-US" dirty="0">
                <a:solidFill>
                  <a:srgbClr val="0070C0"/>
                </a:solidFill>
              </a:rPr>
              <a:t>turn</a:t>
            </a:r>
          </a:p>
          <a:p>
            <a:pPr lvl="1"/>
            <a:r>
              <a:rPr lang="en-US" dirty="0"/>
              <a:t>But Process 1 was </a:t>
            </a:r>
            <a:r>
              <a:rPr lang="en-US" dirty="0">
                <a:solidFill>
                  <a:srgbClr val="0070C0"/>
                </a:solidFill>
              </a:rPr>
              <a:t>not interested</a:t>
            </a:r>
          </a:p>
          <a:p>
            <a:r>
              <a:rPr lang="en-US" dirty="0"/>
              <a:t>Solution: </a:t>
            </a:r>
            <a:r>
              <a:rPr lang="en-US" dirty="0">
                <a:solidFill>
                  <a:srgbClr val="0070C0"/>
                </a:solidFill>
              </a:rPr>
              <a:t>Remember whether a process is interested in CS or not</a:t>
            </a:r>
          </a:p>
          <a:p>
            <a:pPr lvl="1"/>
            <a:r>
              <a:rPr lang="en-US" dirty="0"/>
              <a:t>Replace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turn </a:t>
            </a:r>
            <a:r>
              <a:rPr lang="en-US" dirty="0"/>
              <a:t>with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bool interested[2]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For example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interested[0] = FALSE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Process 0 is not interested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51520" y="3356992"/>
            <a:ext cx="4248472" cy="304698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0</a:t>
            </a:r>
          </a:p>
          <a:p>
            <a:pPr eaLnBrk="0" hangingPunct="0">
              <a:defRPr/>
            </a:pPr>
            <a:r>
              <a:rPr lang="en-US" sz="19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interested[0] = TRUE;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(interested[1]!=FALSE);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interested[0] = FALSE;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617716" y="3356992"/>
            <a:ext cx="4248472" cy="304698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1</a:t>
            </a:r>
          </a:p>
          <a:p>
            <a:pPr eaLnBrk="0" hangingPunct="0">
              <a:defRPr/>
            </a:pPr>
            <a:r>
              <a:rPr lang="en-US" sz="19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(TRUE)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interested[1] = TRUE;</a:t>
            </a:r>
          </a:p>
          <a:p>
            <a:pPr eaLnBrk="0" hangingPunct="0">
              <a:defRPr/>
            </a:pP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// wait for turn 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(interested[0]!=FALSE);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interested[1] = FALSE;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sz="1900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sz="1900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542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44016" y="1270541"/>
            <a:ext cx="4800600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1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</a:t>
            </a:r>
            <a:r>
              <a:rPr lang="en-US" sz="21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endParaRPr lang="en-US" sz="21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interested[0] = TRUE;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endParaRPr lang="en-US" sz="1600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 flipH="1">
            <a:off x="4716016" y="1118142"/>
            <a:ext cx="0" cy="252688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 sz="1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716016" y="1270541"/>
            <a:ext cx="480060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1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</a:t>
            </a:r>
            <a:r>
              <a:rPr lang="en-US" sz="21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21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</a:p>
          <a:p>
            <a:pPr eaLnBrk="0" hangingPunct="0">
              <a:defRPr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interested[1] = TRUE;  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448816" y="2824704"/>
            <a:ext cx="4572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interested[1]!=FALSE</a:t>
            </a: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5020816" y="2824704"/>
            <a:ext cx="4572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interested[0]!=FALSE</a:t>
            </a:r>
            <a:r>
              <a:rPr lang="en-US" sz="16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3725416" y="2489741"/>
            <a:ext cx="19050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Timeout</a:t>
            </a: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3496816" y="4709046"/>
            <a:ext cx="2362200" cy="462884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6000"/>
              </a:lnSpc>
              <a:spcBef>
                <a:spcPct val="50000"/>
              </a:spcBef>
            </a:pPr>
            <a:r>
              <a:rPr lang="en-US" altLang="en-US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363442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1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5" grpId="0" build="p"/>
      <p:bldP spid="16" grpId="0"/>
      <p:bldP spid="16" grpId="1"/>
      <p:bldP spid="17" grpId="0"/>
      <p:bldP spid="17" grpId="1"/>
      <p:bldP spid="18" grpId="0" animBg="1" autoUpdateAnimBg="0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Peterson’s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 previous two algorithms </a:t>
            </a:r>
          </a:p>
          <a:p>
            <a:pPr lvl="1"/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turn </a:t>
            </a:r>
            <a:r>
              <a:rPr lang="en-US" dirty="0"/>
              <a:t>with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bool interested</a:t>
            </a:r>
          </a:p>
          <a:p>
            <a:pPr lvl="1"/>
            <a:endParaRPr lang="en-US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531640" y="2348880"/>
            <a:ext cx="5848672" cy="313932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Process P</a:t>
            </a:r>
            <a:r>
              <a:rPr lang="en-US" baseline="-25000" dirty="0">
                <a:solidFill>
                  <a:srgbClr val="0070C0"/>
                </a:solidFill>
                <a:latin typeface="+mj-lt"/>
                <a:ea typeface="ＭＳ Ｐゴシック" charset="0"/>
                <a:cs typeface="ＭＳ Ｐゴシック" charset="0"/>
              </a:rPr>
              <a:t>i</a:t>
            </a:r>
          </a:p>
          <a:p>
            <a:pPr eaLnBrk="0" hangingPunct="0">
              <a:defRPr/>
            </a:pPr>
            <a:r>
              <a:rPr lang="en-US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</a:t>
            </a: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(TRUE) 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{ 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interested[</a:t>
            </a:r>
            <a:r>
              <a:rPr lang="en-US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</a:t>
            </a: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] = TRUE;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turn = j; 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// wait 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while</a:t>
            </a: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(interested[j]==TRUE &amp;&amp; turn == j );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critical_section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interested[</a:t>
            </a:r>
            <a:r>
              <a:rPr lang="en-US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</a:t>
            </a: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] = FALSE;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noncritical_section</a:t>
            </a: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0" hangingPunct="0">
              <a:defRPr/>
            </a:pPr>
            <a:r>
              <a:rPr lang="en-US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263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Peterson’s Algorithm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91616" y="1052736"/>
            <a:ext cx="7652792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0</a:t>
            </a:r>
            <a:endParaRPr lang="en-US" sz="1400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interested[0] = TRUE;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turn = 1; 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// wait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while(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interested[1]==TRUE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&amp;&amp;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== 1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91616" y="3627661"/>
            <a:ext cx="7292752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1</a:t>
            </a:r>
            <a:endParaRPr lang="en-US" sz="1400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interested[1] = TRUE;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turn = 0; 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// wait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while(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interested[0]==TRUE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&amp;&amp;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== 0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91616" y="2713261"/>
            <a:ext cx="457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en-US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400" b="1" dirty="0">
                <a:solidFill>
                  <a:srgbClr val="CC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interested[0] = FALSE;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noncritical_section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2065602" y="2401007"/>
            <a:ext cx="217239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 	&amp;&amp;	T</a:t>
            </a: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744016" y="2729136"/>
            <a:ext cx="20730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2236952" y="4987328"/>
            <a:ext cx="217239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	&amp;&amp;	T</a:t>
            </a: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4173016" y="3186336"/>
            <a:ext cx="19050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Timeout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91616" y="5624736"/>
            <a:ext cx="4876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interested[1] = FALSE;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noncritical_section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2245622" y="5003239"/>
            <a:ext cx="217239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 	&amp;&amp;	T</a:t>
            </a:r>
          </a:p>
        </p:txBody>
      </p:sp>
    </p:spTree>
    <p:extLst>
      <p:ext uri="{BB962C8B-B14F-4D97-AF65-F5344CB8AC3E}">
        <p14:creationId xmlns:p14="http://schemas.microsoft.com/office/powerpoint/2010/main" val="361859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  <p:bldP spid="17" grpId="0" build="p"/>
      <p:bldP spid="18" grpId="0" animBg="1"/>
      <p:bldP spid="18" grpId="1" animBg="1"/>
      <p:bldP spid="19" grpId="0"/>
      <p:bldP spid="20" grpId="0" animBg="1"/>
      <p:bldP spid="20" grpId="1" animBg="1"/>
      <p:bldP spid="21" grpId="0" animBg="1" autoUpdateAnimBg="0"/>
      <p:bldP spid="21" grpId="1" animBg="1"/>
      <p:bldP spid="21" grpId="2" animBg="1"/>
      <p:bldP spid="21" grpId="3" animBg="1"/>
      <p:bldP spid="21" grpId="4" animBg="1"/>
      <p:bldP spid="21" grpId="5" animBg="1"/>
      <p:bldP spid="22" grpId="0" build="p"/>
      <p:bldP spid="23" grpId="0" animBg="1"/>
      <p:bldP spid="2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Peterson’s Algorithm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09597" y="2156202"/>
            <a:ext cx="445827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endParaRPr lang="en-US" sz="1400" b="1" dirty="0">
              <a:solidFill>
                <a:srgbClr val="CC3300"/>
              </a:solidFill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// wait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while(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interested[1]==TRUE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&amp;&amp;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== 1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</a:p>
          <a:p>
            <a:pPr eaLnBrk="0" hangingPunct="0">
              <a:defRPr/>
            </a:pPr>
            <a:endParaRPr lang="en-US" sz="1400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31576" y="1037709"/>
            <a:ext cx="4756778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0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interested[0] = TRUE;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 turn = 1; 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31576" y="3861048"/>
            <a:ext cx="5708576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1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1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while(TRUE)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interested[1] = TRUE;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 turn = 0; 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CC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 // wait 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 while(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interested[0]==TRUE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&amp;&amp;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turn == 0</a:t>
            </a: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</a:p>
          <a:p>
            <a:pPr eaLnBrk="0" hangingPunct="0">
              <a:defRPr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85632" y="3229106"/>
            <a:ext cx="4572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solidFill>
                  <a:srgbClr val="CC33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interested[0] = FALSE;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noncritical_section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839891" y="2534447"/>
            <a:ext cx="2165978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	&amp;&amp;	F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789637" y="5200385"/>
            <a:ext cx="217239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	&amp;&amp;	T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812976" y="3628509"/>
            <a:ext cx="19050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TW" sz="21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Timeout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20064" y="5606148"/>
            <a:ext cx="4876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  <a:p>
            <a:pPr eaLnBrk="0" hangingPunct="0">
              <a:defRPr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interested[1] = FALSE;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noncritical_section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  <a:p>
            <a:pPr eaLnBrk="0" hangingPunct="0"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789637" y="5202389"/>
            <a:ext cx="217239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 	&amp;&amp;	T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11992" y="2952264"/>
            <a:ext cx="21723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critical_section</a:t>
            </a:r>
            <a:r>
              <a:rPr lang="en-US" sz="1400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();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3419871" y="2540357"/>
            <a:ext cx="1008113" cy="381000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3419871" y="5228709"/>
            <a:ext cx="1008114" cy="381000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AutoShape 18"/>
          <p:cNvSpPr>
            <a:spLocks/>
          </p:cNvSpPr>
          <p:nvPr/>
        </p:nvSpPr>
        <p:spPr bwMode="auto">
          <a:xfrm>
            <a:off x="4609325" y="2604893"/>
            <a:ext cx="762000" cy="2912339"/>
          </a:xfrm>
          <a:prstGeom prst="rightBrace">
            <a:avLst>
              <a:gd name="adj1" fmla="val 36667"/>
              <a:gd name="adj2" fmla="val 50000"/>
            </a:avLst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130294" y="3549977"/>
            <a:ext cx="29905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not be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the same time.</a:t>
            </a:r>
          </a:p>
          <a:p>
            <a:pPr algn="ctr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Thus used to break tie </a:t>
            </a:r>
          </a:p>
        </p:txBody>
      </p:sp>
    </p:spTree>
    <p:extLst>
      <p:ext uri="{BB962C8B-B14F-4D97-AF65-F5344CB8AC3E}">
        <p14:creationId xmlns:p14="http://schemas.microsoft.com/office/powerpoint/2010/main" val="326865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8" grpId="0" build="p"/>
      <p:bldP spid="9" grpId="0" build="p"/>
      <p:bldP spid="10" grpId="0" animBg="1"/>
      <p:bldP spid="10" grpId="1" animBg="1"/>
      <p:bldP spid="11" grpId="0" animBg="1"/>
      <p:bldP spid="11" grpId="1" animBg="1"/>
      <p:bldP spid="12" grpId="0" animBg="1" autoUpdateAnimBg="0"/>
      <p:bldP spid="12" grpId="1" animBg="1"/>
      <p:bldP spid="12" grpId="2" animBg="1"/>
      <p:bldP spid="12" grpId="3" animBg="1"/>
      <p:bldP spid="12" grpId="4" animBg="1"/>
      <p:bldP spid="12" grpId="5" animBg="1"/>
      <p:bldP spid="13" grpId="0" build="p"/>
      <p:bldP spid="14" grpId="0" animBg="1"/>
      <p:bldP spid="14" grpId="1" animBg="1"/>
      <p:bldP spid="15" grpId="0"/>
      <p:bldP spid="16" grpId="0" animBg="1"/>
      <p:bldP spid="17" grpId="0" animBg="1"/>
      <p:bldP spid="18" grpId="0" animBg="1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Lamport’s Bakery Algorithm (For n processes)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0033CC"/>
                </a:solidFill>
                <a:latin typeface="+mj-lt"/>
              </a:rPr>
              <a:t>Idea</a:t>
            </a:r>
            <a:r>
              <a:rPr lang="en-US" sz="2200" dirty="0">
                <a:solidFill>
                  <a:srgbClr val="0033CC"/>
                </a:solidFill>
                <a:latin typeface="+mj-lt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</a:rPr>
              <a:t>Before entering its critical section,  each </a:t>
            </a:r>
            <a:r>
              <a:rPr lang="en-US" dirty="0">
                <a:solidFill>
                  <a:srgbClr val="0033CC"/>
                </a:solidFill>
                <a:latin typeface="+mj-lt"/>
              </a:rPr>
              <a:t>process receives a number 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+mj-lt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</a:rPr>
              <a:t>Holder of </a:t>
            </a:r>
            <a:r>
              <a:rPr lang="en-US" dirty="0">
                <a:solidFill>
                  <a:srgbClr val="0033CC"/>
                </a:solidFill>
                <a:latin typeface="+mj-lt"/>
              </a:rPr>
              <a:t>the smallest number enters the critical section</a:t>
            </a:r>
            <a:endParaRPr lang="en-US" dirty="0">
              <a:latin typeface="+mj-lt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solidFill>
                  <a:srgbClr val="0033CC"/>
                </a:solidFill>
                <a:latin typeface="+mj-lt"/>
              </a:rPr>
              <a:t>Fairness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solidFill>
                  <a:srgbClr val="0033CC"/>
                </a:solidFill>
                <a:latin typeface="+mj-lt"/>
              </a:rPr>
              <a:t>No deadlock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+mj-lt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</a:rPr>
              <a:t>If processes P</a:t>
            </a:r>
            <a:r>
              <a:rPr lang="en-US" baseline="-25000" dirty="0">
                <a:latin typeface="+mj-lt"/>
              </a:rPr>
              <a:t>i</a:t>
            </a:r>
            <a:r>
              <a:rPr lang="en-US" dirty="0">
                <a:latin typeface="+mj-lt"/>
              </a:rPr>
              <a:t> and </a:t>
            </a:r>
            <a:r>
              <a:rPr lang="en-US" dirty="0" err="1">
                <a:latin typeface="+mj-lt"/>
              </a:rPr>
              <a:t>P</a:t>
            </a:r>
            <a:r>
              <a:rPr lang="en-US" baseline="-25000" dirty="0" err="1">
                <a:latin typeface="+mj-lt"/>
              </a:rPr>
              <a:t>j</a:t>
            </a:r>
            <a:r>
              <a:rPr lang="en-US" dirty="0">
                <a:latin typeface="+mj-lt"/>
              </a:rPr>
              <a:t> receive the same number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>
                <a:solidFill>
                  <a:srgbClr val="0033CC"/>
                </a:solidFill>
                <a:latin typeface="+mj-lt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rgbClr val="0033CC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33CC"/>
                </a:solidFill>
                <a:latin typeface="+mj-lt"/>
                <a:cs typeface="Courier New" panose="02070309020205020404" pitchFamily="49" charset="0"/>
              </a:rPr>
              <a:t> &lt;j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then P</a:t>
            </a:r>
            <a:r>
              <a:rPr lang="en-US" baseline="-25000" dirty="0">
                <a:latin typeface="+mj-lt"/>
                <a:cs typeface="Courier New" panose="02070309020205020404" pitchFamily="49" charset="0"/>
              </a:rPr>
              <a:t>i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served first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>
                <a:solidFill>
                  <a:srgbClr val="0033CC"/>
                </a:solidFill>
                <a:latin typeface="+mj-lt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P</a:t>
            </a:r>
            <a:r>
              <a:rPr lang="en-US" baseline="-25000" dirty="0" err="1">
                <a:latin typeface="+mj-lt"/>
                <a:cs typeface="Courier New" panose="02070309020205020404" pitchFamily="49" charset="0"/>
              </a:rPr>
              <a:t>j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served first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+mj-lt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</a:rPr>
              <a:t>While processes are trying to enter 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+mj-lt"/>
              </a:rPr>
              <a:t>The numbering scheme generates numbers in increasing order of enumeration; i.e., 1,2,3,3,3,3,4,5</a:t>
            </a:r>
            <a:endParaRPr lang="en-US" i="1" dirty="0">
              <a:solidFill>
                <a:schemeClr val="accent2"/>
              </a:solidFill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657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Lamport’s</a:t>
            </a:r>
            <a:r>
              <a:rPr lang="en-US" dirty="0"/>
              <a:t> Bakery Algorithm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9481" y="2124016"/>
            <a:ext cx="8125037" cy="42573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Shared </a:t>
            </a: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choosing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[0..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– 1]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of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boolean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(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init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false)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         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: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array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[0..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n –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1]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of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integer (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init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0)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,</a:t>
            </a:r>
            <a:endParaRPr lang="en-US" sz="1600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Process </a:t>
            </a:r>
            <a:r>
              <a:rPr lang="en-US" sz="1600" b="1" kern="0" dirty="0">
                <a:latin typeface="Consolas" panose="020B0609020204030204" pitchFamily="49" charset="0"/>
              </a:rPr>
              <a:t>P</a:t>
            </a:r>
            <a:r>
              <a:rPr lang="en-US" sz="1600" b="1" kern="0" baseline="-25000" dirty="0">
                <a:latin typeface="Consolas" panose="020B0609020204030204" pitchFamily="49" charset="0"/>
              </a:rPr>
              <a:t>i</a:t>
            </a:r>
            <a:endParaRPr lang="en-US" sz="1600" b="1" kern="0" dirty="0"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1: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repeat</a:t>
            </a:r>
            <a:endParaRPr lang="en-US" sz="1600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2:  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choosing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] :=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3:  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] :=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max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[0],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[1], …,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– 1])+1;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4:  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choosing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] :=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5: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:= 0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to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– 1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do begin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6:  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choosing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]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do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no-op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7:  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]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 0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and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(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[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j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],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j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) &lt; (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[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], 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)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do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8:         no-op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9: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end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10:   </a:t>
            </a:r>
            <a:r>
              <a:rPr lang="en-US" sz="1600" b="1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critical section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11:  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number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[</a:t>
            </a:r>
            <a:r>
              <a:rPr lang="en-US" sz="1600" i="1" kern="0" dirty="0" err="1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] := 0;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12:   </a:t>
            </a:r>
            <a:r>
              <a:rPr lang="en-US" sz="1600" b="1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remainder section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13: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until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 </a:t>
            </a:r>
            <a:r>
              <a:rPr lang="en-US" sz="1600" i="1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false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  <a:sym typeface="Symbol" pitchFamily="18" charset="2"/>
              </a:rPr>
              <a:t>;</a:t>
            </a:r>
            <a:endParaRPr lang="en-US" sz="1600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23850" y="1052736"/>
            <a:ext cx="8496300" cy="5112568"/>
          </a:xfrm>
        </p:spPr>
        <p:txBody>
          <a:bodyPr/>
          <a:lstStyle/>
          <a:p>
            <a:r>
              <a:rPr lang="en-US" altLang="en-US" dirty="0"/>
              <a:t>Peterson</a:t>
            </a:r>
            <a:r>
              <a:rPr lang="ja-JP" altLang="en-US" dirty="0"/>
              <a:t>’</a:t>
            </a:r>
            <a:r>
              <a:rPr lang="en-US" altLang="ja-JP" dirty="0"/>
              <a:t>s algorithm solves the critical-section problem for two processes</a:t>
            </a:r>
          </a:p>
          <a:p>
            <a:pPr lvl="1"/>
            <a:r>
              <a:rPr lang="en-US" dirty="0"/>
              <a:t>For multiple processes, bakery algorithm is used</a:t>
            </a:r>
          </a:p>
        </p:txBody>
      </p:sp>
    </p:spTree>
    <p:extLst>
      <p:ext uri="{BB962C8B-B14F-4D97-AF65-F5344CB8AC3E}">
        <p14:creationId xmlns:p14="http://schemas.microsoft.com/office/powerpoint/2010/main" val="1738387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 Problem: Software-based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Peterson and Bakery algorithms solve critical section problem</a:t>
            </a:r>
          </a:p>
          <a:p>
            <a:pPr lvl="3"/>
            <a:endParaRPr lang="en-US" dirty="0"/>
          </a:p>
          <a:p>
            <a:r>
              <a:rPr lang="en-US" dirty="0"/>
              <a:t>These algorithms are not used in practice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Mutual exclusion depends on the order of steps in the software based algorithms 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However, modern Compilers often reorder instructions to enhance performance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751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Exclusion: Hardware Support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Interrupt Disabling</a:t>
            </a:r>
          </a:p>
          <a:p>
            <a:pPr lvl="1"/>
            <a:r>
              <a:rPr lang="en-US" dirty="0"/>
              <a:t>A process runs until it invokes an operating-system service or until it is interrupted</a:t>
            </a:r>
          </a:p>
          <a:p>
            <a:pPr lvl="1"/>
            <a:r>
              <a:rPr lang="en-US" dirty="0"/>
              <a:t>Disabling interrupts guarantees mutual exclusion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Disadvantage </a:t>
            </a:r>
          </a:p>
          <a:p>
            <a:pPr lvl="1"/>
            <a:r>
              <a:rPr lang="en-US" dirty="0"/>
              <a:t>Processor is </a:t>
            </a:r>
            <a:r>
              <a:rPr lang="en-US" dirty="0">
                <a:solidFill>
                  <a:srgbClr val="0070C0"/>
                </a:solidFill>
              </a:rPr>
              <a:t>limited in its ability to interleave programs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Multiprocessors: </a:t>
            </a:r>
            <a:r>
              <a:rPr lang="en-US" dirty="0"/>
              <a:t>Disable interrupts on one processor will not guarantee mutual exclusion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User</a:t>
            </a:r>
            <a:r>
              <a:rPr lang="en-US" dirty="0"/>
              <a:t> programs cannot </a:t>
            </a:r>
            <a:r>
              <a:rPr lang="en-US" dirty="0">
                <a:solidFill>
                  <a:srgbClr val="0070C0"/>
                </a:solidFill>
              </a:rPr>
              <a:t>directly disabled interrupts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048496" y="2636912"/>
            <a:ext cx="3672086" cy="18722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600" kern="0">
                <a:latin typeface="Consolas" panose="020B0609020204030204" pitchFamily="49" charset="0"/>
              </a:rPr>
              <a:t>while(true){</a:t>
            </a:r>
          </a:p>
          <a:p>
            <a:pPr marL="0" indent="0">
              <a:buFontTx/>
              <a:buNone/>
            </a:pPr>
            <a:r>
              <a:rPr lang="en-US" sz="1600" kern="0">
                <a:latin typeface="Consolas" panose="020B0609020204030204" pitchFamily="49" charset="0"/>
              </a:rPr>
              <a:t>   /* disable interrupts */</a:t>
            </a:r>
          </a:p>
          <a:p>
            <a:pPr marL="0" indent="0">
              <a:buFontTx/>
              <a:buNone/>
            </a:pPr>
            <a:r>
              <a:rPr lang="en-US" sz="1600" kern="0">
                <a:latin typeface="Consolas" panose="020B0609020204030204" pitchFamily="49" charset="0"/>
              </a:rPr>
              <a:t>      </a:t>
            </a:r>
            <a:r>
              <a:rPr lang="en-US" sz="1600" kern="0">
                <a:solidFill>
                  <a:srgbClr val="0070C0"/>
                </a:solidFill>
                <a:latin typeface="Consolas" panose="020B0609020204030204" pitchFamily="49" charset="0"/>
              </a:rPr>
              <a:t>critical section</a:t>
            </a:r>
          </a:p>
          <a:p>
            <a:pPr marL="0" indent="0">
              <a:buFontTx/>
              <a:buNone/>
            </a:pPr>
            <a:r>
              <a:rPr lang="en-US" sz="1600" kern="0">
                <a:latin typeface="Consolas" panose="020B0609020204030204" pitchFamily="49" charset="0"/>
              </a:rPr>
              <a:t>   /* enable interrupts */</a:t>
            </a:r>
          </a:p>
          <a:p>
            <a:pPr marL="0" indent="0">
              <a:buFontTx/>
              <a:buNone/>
            </a:pPr>
            <a:r>
              <a:rPr lang="en-US" sz="1600" kern="0">
                <a:latin typeface="Consolas" panose="020B0609020204030204" pitchFamily="49" charset="0"/>
              </a:rPr>
              <a:t>      </a:t>
            </a:r>
            <a:r>
              <a:rPr lang="en-US" sz="1600" kern="0">
                <a:solidFill>
                  <a:srgbClr val="0070C0"/>
                </a:solidFill>
                <a:latin typeface="Consolas" panose="020B0609020204030204" pitchFamily="49" charset="0"/>
              </a:rPr>
              <a:t>remainder section</a:t>
            </a:r>
          </a:p>
          <a:p>
            <a:pPr marL="0" indent="0">
              <a:buFontTx/>
              <a:buNone/>
            </a:pPr>
            <a:r>
              <a:rPr lang="en-US" sz="1600" kern="0">
                <a:latin typeface="Consolas" panose="020B0609020204030204" pitchFamily="49" charset="0"/>
              </a:rPr>
              <a:t>}</a:t>
            </a:r>
          </a:p>
          <a:p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64891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Exclusion: Other Hardware Support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Special Machine Instructions</a:t>
            </a:r>
          </a:p>
          <a:p>
            <a:pPr lvl="1"/>
            <a:r>
              <a:rPr lang="en-US" dirty="0"/>
              <a:t>Performed in a single instruction cycle: </a:t>
            </a:r>
            <a:r>
              <a:rPr lang="en-US" dirty="0">
                <a:solidFill>
                  <a:srgbClr val="0070C0"/>
                </a:solidFill>
              </a:rPr>
              <a:t>Reading and writing in one atomic step</a:t>
            </a:r>
          </a:p>
          <a:p>
            <a:pPr lvl="4"/>
            <a:endParaRPr lang="en-US" dirty="0"/>
          </a:p>
          <a:p>
            <a:r>
              <a:rPr lang="en-US" dirty="0"/>
              <a:t>Not subject to interference from other instructions 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Uniprocessor system: Executed without interrupt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Multiprocessor system: Executed with locked system bus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94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and Set (TSL)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4287866"/>
            <a:ext cx="8496300" cy="194944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Atomic processor instructions</a:t>
            </a:r>
          </a:p>
          <a:p>
            <a:r>
              <a:rPr lang="en-US" dirty="0"/>
              <a:t>Idea: Only one process at a time succeeds to set lock=1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02422" y="1424658"/>
            <a:ext cx="3728513" cy="2394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800" b="1" kern="0" dirty="0">
                <a:solidFill>
                  <a:srgbClr val="0070C0"/>
                </a:solidFill>
                <a:latin typeface="+mj-lt"/>
              </a:rPr>
              <a:t>Test and Set </a:t>
            </a:r>
            <a:r>
              <a:rPr lang="en-US" sz="1800" kern="0" dirty="0">
                <a:latin typeface="+mj-lt"/>
              </a:rPr>
              <a:t>Instruction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1: </a:t>
            </a: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boolean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testset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&amp;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2: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if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== 0) 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3:      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= 1; 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4:    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return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false;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5:	   }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6: 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else return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true;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7: }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92898" y="1411959"/>
            <a:ext cx="3716523" cy="241776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>
              <a:latin typeface="Consolas" panose="020B0609020204030204" pitchFamily="49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326859" y="1412776"/>
            <a:ext cx="4637629" cy="1913708"/>
            <a:chOff x="4326859" y="1412776"/>
            <a:chExt cx="4637629" cy="1913708"/>
          </a:xfrm>
        </p:grpSpPr>
        <p:sp>
          <p:nvSpPr>
            <p:cNvPr id="12" name="Rectangle 3"/>
            <p:cNvSpPr txBox="1">
              <a:spLocks noChangeArrowheads="1"/>
            </p:cNvSpPr>
            <p:nvPr/>
          </p:nvSpPr>
          <p:spPr bwMode="auto">
            <a:xfrm>
              <a:off x="4336383" y="1425475"/>
              <a:ext cx="4628105" cy="1901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ahoma" pitchFamily="34" charset="0"/>
                <a:buChar char="–"/>
                <a:defRPr sz="19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Ø"/>
                <a:defRPr sz="17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Tahoma" pitchFamily="34" charset="0"/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5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FontTx/>
                <a:buNone/>
              </a:pPr>
              <a:r>
                <a:rPr lang="en-US" sz="1800" b="1" kern="0" dirty="0">
                  <a:solidFill>
                    <a:srgbClr val="0070C0"/>
                  </a:solidFill>
                  <a:latin typeface="+mj-lt"/>
                </a:rPr>
                <a:t>Test and Set </a:t>
              </a:r>
              <a:r>
                <a:rPr lang="en-US" sz="1800" kern="0" dirty="0">
                  <a:latin typeface="+mj-lt"/>
                </a:rPr>
                <a:t>Instruction</a:t>
              </a:r>
            </a:p>
            <a:p>
              <a:pPr>
                <a:buFontTx/>
                <a:buNone/>
              </a:pP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1: </a:t>
              </a:r>
              <a:r>
                <a:rPr lang="en-US" sz="1600" b="1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boolean</a:t>
              </a: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testset</a:t>
              </a: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(Boolean *target) {</a:t>
              </a:r>
            </a:p>
            <a:p>
              <a:pPr>
                <a:buFontTx/>
                <a:buNone/>
              </a:pP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2:</a:t>
              </a:r>
              <a:r>
                <a:rPr lang="en-US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   </a:t>
              </a:r>
              <a:r>
                <a:rPr lang="en-US" sz="1600" b="1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boolean</a:t>
              </a:r>
              <a:r>
                <a:rPr lang="en-US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rv</a:t>
              </a: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= *target;</a:t>
              </a:r>
            </a:p>
            <a:p>
              <a:pPr>
                <a:buFontTx/>
                <a:buNone/>
              </a:pP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3:    *target = true;</a:t>
              </a:r>
            </a:p>
            <a:p>
              <a:pPr>
                <a:buFontTx/>
                <a:buNone/>
              </a:pP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4:    </a:t>
              </a:r>
              <a:r>
                <a:rPr lang="en-US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return </a:t>
              </a:r>
              <a:r>
                <a:rPr lang="en-US" sz="16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rv</a:t>
              </a: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;</a:t>
              </a:r>
            </a:p>
            <a:p>
              <a:pPr>
                <a:buFontTx/>
                <a:buNone/>
              </a:pPr>
              <a:r>
                <a:rPr lang="en-US" sz="16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5:	}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4326859" y="1412776"/>
              <a:ext cx="4530125" cy="1913708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219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and Set (TSL)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5439994"/>
            <a:ext cx="8496300" cy="194944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Atomic processor instructions</a:t>
            </a:r>
          </a:p>
          <a:p>
            <a:r>
              <a:rPr lang="en-US" dirty="0"/>
              <a:t>Idea: Only one process at a time succeeds to set lock=1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39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392898" y="1196752"/>
            <a:ext cx="3738037" cy="2750139"/>
            <a:chOff x="392898" y="1411958"/>
            <a:chExt cx="3738037" cy="2750139"/>
          </a:xfrm>
        </p:grpSpPr>
        <p:sp>
          <p:nvSpPr>
            <p:cNvPr id="7" name="Rectangle 3"/>
            <p:cNvSpPr txBox="1">
              <a:spLocks noChangeArrowheads="1"/>
            </p:cNvSpPr>
            <p:nvPr/>
          </p:nvSpPr>
          <p:spPr bwMode="auto">
            <a:xfrm>
              <a:off x="402422" y="1424658"/>
              <a:ext cx="3728513" cy="2737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ahoma" pitchFamily="34" charset="0"/>
                <a:buChar char="–"/>
                <a:defRPr sz="19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Ø"/>
                <a:defRPr sz="17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Tahoma" pitchFamily="34" charset="0"/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5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FontTx/>
                <a:buNone/>
              </a:pPr>
              <a:r>
                <a:rPr lang="en-US" sz="2000" b="1" kern="0" dirty="0">
                  <a:solidFill>
                    <a:srgbClr val="0070C0"/>
                  </a:solidFill>
                  <a:latin typeface="+mj-lt"/>
                </a:rPr>
                <a:t>Test and Set </a:t>
              </a:r>
              <a:r>
                <a:rPr lang="en-US" sz="2000" kern="0" dirty="0">
                  <a:latin typeface="+mj-lt"/>
                </a:rPr>
                <a:t>Instruction</a:t>
              </a:r>
            </a:p>
            <a:p>
              <a:pPr>
                <a:buFontTx/>
                <a:buNone/>
              </a:pP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1: </a:t>
              </a:r>
              <a:r>
                <a:rPr lang="en-US" sz="1800" b="1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boolean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</a:t>
              </a:r>
              <a:r>
                <a:rPr lang="en-US" sz="18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testset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(</a:t>
              </a:r>
              <a:r>
                <a:rPr lang="en-US" sz="18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&amp; </a:t>
              </a:r>
              <a:r>
                <a:rPr lang="en-US" sz="18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i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buFontTx/>
                <a:buNone/>
              </a:pP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2:</a:t>
              </a:r>
              <a:r>
                <a:rPr lang="en-US" sz="18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   if 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(</a:t>
              </a:r>
              <a:r>
                <a:rPr lang="en-US" sz="18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i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== 0) {</a:t>
              </a:r>
            </a:p>
            <a:p>
              <a:pPr>
                <a:buFontTx/>
                <a:buNone/>
              </a:pP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3:       </a:t>
              </a:r>
              <a:r>
                <a:rPr lang="en-US" sz="1800" kern="0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i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= 1; </a:t>
              </a:r>
            </a:p>
            <a:p>
              <a:pPr>
                <a:buFontTx/>
                <a:buNone/>
              </a:pP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4:       </a:t>
              </a:r>
              <a:r>
                <a:rPr lang="en-US" sz="18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return 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false;</a:t>
              </a:r>
            </a:p>
            <a:p>
              <a:pPr>
                <a:buFontTx/>
                <a:buNone/>
              </a:pP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5:	   }</a:t>
              </a:r>
            </a:p>
            <a:p>
              <a:pPr>
                <a:buFontTx/>
                <a:buNone/>
              </a:pP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6:    </a:t>
              </a:r>
              <a:r>
                <a:rPr lang="en-US" sz="18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else return</a:t>
              </a: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true;</a:t>
              </a:r>
            </a:p>
            <a:p>
              <a:pPr>
                <a:buFontTx/>
                <a:buNone/>
              </a:pPr>
              <a:r>
                <a:rPr lang="en-US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7: }</a:t>
              </a: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392898" y="1411958"/>
              <a:ext cx="3738037" cy="2750139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>
                <a:latin typeface="Consolas" panose="020B0609020204030204" pitchFamily="49" charset="0"/>
              </a:endParaRPr>
            </a:p>
          </p:txBody>
        </p:sp>
      </p:grp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355976" y="1196752"/>
            <a:ext cx="4474383" cy="443835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1: 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P(</a:t>
            </a:r>
            <a:r>
              <a:rPr lang="en-US" b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){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2:    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(true) {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3: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0" dirty="0" err="1">
                <a:latin typeface="Consolas" panose="020B0609020204030204" pitchFamily="49" charset="0"/>
                <a:cs typeface="Courier New" panose="02070309020205020404" pitchFamily="49" charset="0"/>
              </a:rPr>
              <a:t>testset</a:t>
            </a: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(bolt));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4:</a:t>
            </a:r>
            <a:r>
              <a:rPr lang="en-US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critical section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5:       bolt = 0;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6:</a:t>
            </a:r>
            <a:r>
              <a:rPr lang="en-US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remainder section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7:	    }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8: }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endParaRPr lang="en-US" b="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9:  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 main()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10: { 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11:    bolt =0;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13:	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parbegin</a:t>
            </a: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(P(1), …, P(N));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b="0" dirty="0">
                <a:latin typeface="Consolas" panose="020B0609020204030204" pitchFamily="49" charset="0"/>
                <a:cs typeface="Courier New" panose="02070309020205020404" pitchFamily="49" charset="0"/>
              </a:rPr>
              <a:t>14: }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79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(Swap)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5445224"/>
            <a:ext cx="8496300" cy="93610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Atomic processor instructions</a:t>
            </a:r>
          </a:p>
          <a:p>
            <a:r>
              <a:rPr lang="en-US" dirty="0"/>
              <a:t>Idea: Only one process at a time will be able to set key = 0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33373" y="1196753"/>
            <a:ext cx="4338627" cy="204375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dirty="0">
                <a:solidFill>
                  <a:srgbClr val="0070C0"/>
                </a:solidFill>
                <a:latin typeface="+mj-lt"/>
              </a:rPr>
              <a:t>Exchange</a:t>
            </a:r>
            <a:r>
              <a:rPr lang="en-US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b="0" dirty="0">
                <a:latin typeface="+mj-lt"/>
              </a:rPr>
              <a:t>Instruction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1: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exchange(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 mem1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,int&amp;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 mem2)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2: {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3: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temp = mem1;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4:    mem1 = mem2;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5:    mem2 = temp;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6: }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919296" y="1196752"/>
            <a:ext cx="3900854" cy="453635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1: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P(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){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2:  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(true) {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3:     </a:t>
            </a:r>
            <a:r>
              <a:rPr lang="en-US" sz="1600" b="1" dirty="0" err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key = 1;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4:    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(key) {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5:       exchange(</a:t>
            </a:r>
            <a:r>
              <a:rPr lang="en-US" sz="1600" b="0" dirty="0" err="1">
                <a:latin typeface="Consolas" panose="020B0609020204030204" pitchFamily="49" charset="0"/>
                <a:cs typeface="Courier New" panose="02070309020205020404" pitchFamily="49" charset="0"/>
              </a:rPr>
              <a:t>bolt,key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de-DE" sz="1600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6:     }</a:t>
            </a:r>
            <a:endParaRPr lang="en-US" sz="1600" dirty="0">
              <a:solidFill>
                <a:schemeClr val="tx2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7: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critical section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8:     exchange(</a:t>
            </a:r>
            <a:r>
              <a:rPr lang="en-US" sz="1600" b="0" dirty="0" err="1">
                <a:latin typeface="Consolas" panose="020B0609020204030204" pitchFamily="49" charset="0"/>
                <a:cs typeface="Courier New" panose="02070309020205020404" pitchFamily="49" charset="0"/>
              </a:rPr>
              <a:t>bolt,key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de-DE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9: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remainder section</a:t>
            </a:r>
          </a:p>
          <a:p>
            <a:pPr marL="342900" lvl="1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10:  }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11:}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endParaRPr lang="en-US" sz="1600" b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12: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 main(){ 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13:   bolt =0;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14: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parbegin</a:t>
            </a: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(P(1), …, P(N));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B5B5B"/>
              </a:buClr>
            </a:pPr>
            <a:r>
              <a:rPr lang="en-US" sz="1600" b="0" dirty="0">
                <a:latin typeface="Consolas" panose="020B0609020204030204" pitchFamily="49" charset="0"/>
                <a:cs typeface="Courier New" panose="02070309020205020404" pitchFamily="49" charset="0"/>
              </a:rPr>
              <a:t>15: }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31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Exclusion Using Machine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Advantages</a:t>
            </a:r>
          </a:p>
          <a:p>
            <a:r>
              <a:rPr lang="en-US" dirty="0"/>
              <a:t>Applicable to any number of processes on single or multiple CPUs sharing main memory</a:t>
            </a:r>
          </a:p>
          <a:p>
            <a:r>
              <a:rPr lang="en-US" dirty="0"/>
              <a:t>It is simple and therefore easy to verify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Disadvantages</a:t>
            </a:r>
          </a:p>
          <a:p>
            <a:r>
              <a:rPr lang="en-US" dirty="0">
                <a:solidFill>
                  <a:srgbClr val="0070C0"/>
                </a:solidFill>
              </a:rPr>
              <a:t>Busy-waiting</a:t>
            </a:r>
            <a:r>
              <a:rPr lang="en-US" dirty="0"/>
              <a:t> consumes processor time</a:t>
            </a:r>
          </a:p>
          <a:p>
            <a:r>
              <a:rPr lang="en-US" dirty="0">
                <a:solidFill>
                  <a:srgbClr val="0070C0"/>
                </a:solidFill>
              </a:rPr>
              <a:t>Starvation</a:t>
            </a:r>
            <a:r>
              <a:rPr lang="en-US" dirty="0"/>
              <a:t> is </a:t>
            </a:r>
            <a:r>
              <a:rPr lang="en-US"/>
              <a:t>possible </a:t>
            </a:r>
            <a:endParaRPr lang="en-US" dirty="0"/>
          </a:p>
          <a:p>
            <a:pPr lvl="1"/>
            <a:r>
              <a:rPr lang="en-US" dirty="0"/>
              <a:t>A process leaves a CS</a:t>
            </a:r>
          </a:p>
          <a:p>
            <a:pPr lvl="1"/>
            <a:r>
              <a:rPr lang="en-US" dirty="0"/>
              <a:t>More than one process is waiting</a:t>
            </a:r>
          </a:p>
          <a:p>
            <a:r>
              <a:rPr lang="en-US" dirty="0"/>
              <a:t>Deadlock possible </a:t>
            </a:r>
            <a:r>
              <a:rPr lang="en-US" dirty="0">
                <a:solidFill>
                  <a:srgbClr val="0070C0"/>
                </a:solidFill>
              </a:rPr>
              <a:t>if used in priority-based scheduling systems</a:t>
            </a:r>
            <a:r>
              <a:rPr lang="en-US" dirty="0"/>
              <a:t>: Ex. scenario</a:t>
            </a:r>
          </a:p>
          <a:p>
            <a:pPr lvl="1"/>
            <a:r>
              <a:rPr lang="en-US" dirty="0"/>
              <a:t>Low priority process has the critical region </a:t>
            </a:r>
          </a:p>
          <a:p>
            <a:pPr lvl="1"/>
            <a:r>
              <a:rPr lang="en-US" dirty="0"/>
              <a:t>Higher priority process needs it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higher priority process will obtain the CPU to wait for the critical region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41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Starvation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Bounded waiting with </a:t>
            </a:r>
            <a:r>
              <a:rPr lang="en-US" dirty="0">
                <a:solidFill>
                  <a:srgbClr val="0070C0"/>
                </a:solidFill>
              </a:rPr>
              <a:t>Test and Set instruction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2412082" y="1594375"/>
            <a:ext cx="4104134" cy="47869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600" b="1" kern="0" dirty="0">
                <a:latin typeface="Consolas" panose="020B0609020204030204" pitchFamily="49" charset="0"/>
              </a:rPr>
              <a:t>do</a:t>
            </a:r>
            <a:r>
              <a:rPr lang="en-US" sz="1600" kern="0" dirty="0">
                <a:latin typeface="Consolas" panose="020B0609020204030204" pitchFamily="49" charset="0"/>
              </a:rPr>
              <a:t> {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waiting[</a:t>
            </a:r>
            <a:r>
              <a:rPr lang="en-US" sz="1600" kern="0" dirty="0" err="1">
                <a:latin typeface="Consolas" panose="020B06090202040302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</a:rPr>
              <a:t>] = TRUE;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key = TRUE;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</a:t>
            </a:r>
            <a:r>
              <a:rPr lang="en-US" sz="1600" b="1" kern="0" dirty="0">
                <a:latin typeface="Consolas" panose="020B0609020204030204" pitchFamily="49" charset="0"/>
              </a:rPr>
              <a:t>while</a:t>
            </a:r>
            <a:r>
              <a:rPr lang="en-US" sz="1600" kern="0" dirty="0">
                <a:latin typeface="Consolas" panose="020B0609020204030204" pitchFamily="49" charset="0"/>
              </a:rPr>
              <a:t> (waiting[</a:t>
            </a:r>
            <a:r>
              <a:rPr lang="en-US" sz="1600" kern="0" dirty="0" err="1">
                <a:latin typeface="Consolas" panose="020B06090202040302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</a:rPr>
              <a:t>] &amp;&amp; key)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   key = </a:t>
            </a:r>
            <a:r>
              <a:rPr lang="en-US" sz="1600" kern="0" dirty="0" err="1">
                <a:latin typeface="Consolas" panose="020B0609020204030204" pitchFamily="49" charset="0"/>
              </a:rPr>
              <a:t>TestAndSet</a:t>
            </a:r>
            <a:r>
              <a:rPr lang="en-US" sz="1600" kern="0" dirty="0">
                <a:latin typeface="Consolas" panose="020B0609020204030204" pitchFamily="49" charset="0"/>
              </a:rPr>
              <a:t>(&amp;lock);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waiting[</a:t>
            </a:r>
            <a:r>
              <a:rPr lang="en-US" sz="1600" kern="0" dirty="0" err="1">
                <a:latin typeface="Consolas" panose="020B06090202040302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</a:rPr>
              <a:t>] = FALSE;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// critical section </a:t>
            </a:r>
          </a:p>
          <a:p>
            <a:pPr marL="0" indent="0">
              <a:buFontTx/>
              <a:buNone/>
            </a:pPr>
            <a:r>
              <a:rPr lang="en-US" sz="1600" kern="0">
                <a:latin typeface="Consolas" panose="020B0609020204030204" pitchFamily="49" charset="0"/>
              </a:rPr>
              <a:t>   j </a:t>
            </a:r>
            <a:r>
              <a:rPr lang="en-US" sz="1600" kern="0" dirty="0">
                <a:latin typeface="Consolas" panose="020B0609020204030204" pitchFamily="49" charset="0"/>
              </a:rPr>
              <a:t>= (</a:t>
            </a:r>
            <a:r>
              <a:rPr lang="en-US" sz="1600" kern="0" dirty="0" err="1">
                <a:latin typeface="Consolas" panose="020B06090202040302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</a:rPr>
              <a:t> + 1) % n;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</a:t>
            </a:r>
            <a:r>
              <a:rPr lang="en-US" sz="1600" b="1" kern="0" dirty="0">
                <a:latin typeface="Consolas" panose="020B0609020204030204" pitchFamily="49" charset="0"/>
              </a:rPr>
              <a:t>while</a:t>
            </a:r>
            <a:r>
              <a:rPr lang="en-US" sz="1600" kern="0" dirty="0">
                <a:latin typeface="Consolas" panose="020B0609020204030204" pitchFamily="49" charset="0"/>
              </a:rPr>
              <a:t> ((j != </a:t>
            </a:r>
            <a:r>
              <a:rPr lang="en-US" sz="1600" kern="0" dirty="0" err="1">
                <a:latin typeface="Consolas" panose="020B06090202040302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</a:rPr>
              <a:t>) &amp;&amp; !waiting[j])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   j = (j + 1) % n;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</a:t>
            </a:r>
            <a:r>
              <a:rPr lang="en-US" sz="1600" b="1" kern="0" dirty="0">
                <a:latin typeface="Consolas" panose="020B0609020204030204" pitchFamily="49" charset="0"/>
              </a:rPr>
              <a:t>if</a:t>
            </a:r>
            <a:r>
              <a:rPr lang="en-US" sz="1600" kern="0" dirty="0">
                <a:latin typeface="Consolas" panose="020B0609020204030204" pitchFamily="49" charset="0"/>
              </a:rPr>
              <a:t> (j == </a:t>
            </a:r>
            <a:r>
              <a:rPr lang="en-US" sz="1600" kern="0" dirty="0" err="1">
                <a:latin typeface="Consolas" panose="020B0609020204030204" pitchFamily="49" charset="0"/>
              </a:rPr>
              <a:t>i</a:t>
            </a:r>
            <a:r>
              <a:rPr lang="en-US" sz="1600" kern="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   lock = FALSE;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</a:t>
            </a:r>
            <a:r>
              <a:rPr lang="en-US" sz="1600" b="1" kern="0" dirty="0">
                <a:latin typeface="Consolas" panose="020B0609020204030204" pitchFamily="49" charset="0"/>
              </a:rPr>
              <a:t>else</a:t>
            </a:r>
            <a:r>
              <a:rPr lang="en-US" sz="1600" kern="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   waiting[j] = FALSE;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   // remainder section </a:t>
            </a:r>
          </a:p>
          <a:p>
            <a:pPr marL="0" indent="0">
              <a:buFontTx/>
              <a:buNone/>
            </a:pPr>
            <a:r>
              <a:rPr lang="en-US" sz="1600" kern="0" dirty="0">
                <a:latin typeface="Consolas" panose="020B0609020204030204" pitchFamily="49" charset="0"/>
              </a:rPr>
              <a:t>} while (TRUE);</a:t>
            </a:r>
          </a:p>
          <a:p>
            <a:pPr marL="0" indent="0">
              <a:buFontTx/>
              <a:buNone/>
            </a:pPr>
            <a:endParaRPr lang="en-US" sz="1600" kern="0" dirty="0">
              <a:latin typeface="Consolas" panose="020B0609020204030204" pitchFamily="49" charset="0"/>
            </a:endParaRP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849278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Inversion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three processes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Process L </a:t>
            </a:r>
            <a:r>
              <a:rPr lang="en-US" dirty="0"/>
              <a:t>with </a:t>
            </a:r>
            <a:r>
              <a:rPr lang="en-US" dirty="0">
                <a:solidFill>
                  <a:srgbClr val="0070C0"/>
                </a:solidFill>
              </a:rPr>
              <a:t>low priority</a:t>
            </a:r>
            <a:r>
              <a:rPr lang="en-US" dirty="0"/>
              <a:t> that requires a resource R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Process H</a:t>
            </a:r>
            <a:r>
              <a:rPr lang="en-US" dirty="0"/>
              <a:t> with </a:t>
            </a:r>
            <a:r>
              <a:rPr lang="en-US" dirty="0">
                <a:solidFill>
                  <a:srgbClr val="0070C0"/>
                </a:solidFill>
              </a:rPr>
              <a:t>high priority</a:t>
            </a:r>
            <a:r>
              <a:rPr lang="en-US" dirty="0"/>
              <a:t> that also requires a resource R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Process M</a:t>
            </a:r>
            <a:r>
              <a:rPr lang="en-US" dirty="0"/>
              <a:t> with </a:t>
            </a:r>
            <a:r>
              <a:rPr lang="en-US" dirty="0">
                <a:solidFill>
                  <a:srgbClr val="0070C0"/>
                </a:solidFill>
              </a:rPr>
              <a:t>medium priority</a:t>
            </a:r>
          </a:p>
          <a:p>
            <a:pPr lvl="4"/>
            <a:endParaRPr lang="en-US" dirty="0"/>
          </a:p>
          <a:p>
            <a:r>
              <a:rPr lang="en-US" dirty="0"/>
              <a:t>If H starts after L has acquired resource R</a:t>
            </a:r>
          </a:p>
          <a:p>
            <a:pPr lvl="1"/>
            <a:r>
              <a:rPr lang="en-US" dirty="0"/>
              <a:t>H has to wait to run until L relinquishes resource R</a:t>
            </a:r>
          </a:p>
          <a:p>
            <a:r>
              <a:rPr lang="en-US" dirty="0"/>
              <a:t>Now when M starts</a:t>
            </a:r>
          </a:p>
          <a:p>
            <a:pPr lvl="1"/>
            <a:r>
              <a:rPr lang="en-US" dirty="0"/>
              <a:t>M is higher priority unblocked process, it will be scheduled before L</a:t>
            </a:r>
          </a:p>
          <a:p>
            <a:pPr lvl="2"/>
            <a:r>
              <a:rPr lang="en-US" dirty="0"/>
              <a:t>Since L has been preempted by M, L cannot relinquish R</a:t>
            </a:r>
          </a:p>
          <a:p>
            <a:pPr lvl="1"/>
            <a:r>
              <a:rPr lang="en-US" dirty="0"/>
              <a:t>M will run until it is finished</a:t>
            </a:r>
          </a:p>
          <a:p>
            <a:pPr lvl="2"/>
            <a:r>
              <a:rPr lang="en-US" dirty="0"/>
              <a:t>Then L will run - at least up to a point where it can relinquish R </a:t>
            </a:r>
          </a:p>
          <a:p>
            <a:pPr lvl="2"/>
            <a:r>
              <a:rPr lang="en-US" dirty="0"/>
              <a:t>Then H will run</a:t>
            </a:r>
          </a:p>
          <a:p>
            <a:r>
              <a:rPr lang="en-US" b="1" dirty="0">
                <a:solidFill>
                  <a:srgbClr val="0070C0"/>
                </a:solidFill>
              </a:rPr>
              <a:t>Priority inversion:</a:t>
            </a:r>
            <a:r>
              <a:rPr lang="en-US" dirty="0"/>
              <a:t> Process with the medium priority ran before a process with high priority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05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high priority process has to wait for some resource shared with an executing low priority process</a:t>
            </a:r>
          </a:p>
          <a:p>
            <a:endParaRPr lang="en-US" dirty="0"/>
          </a:p>
          <a:p>
            <a:r>
              <a:rPr lang="en-US" dirty="0"/>
              <a:t>Low priority process is temporarily assigned the priority of the highest waiting priority process </a:t>
            </a:r>
          </a:p>
          <a:p>
            <a:endParaRPr lang="en-US" dirty="0"/>
          </a:p>
          <a:p>
            <a:r>
              <a:rPr lang="en-US" dirty="0"/>
              <a:t>Medium priority processes are prevented from pre-empting (originally) low priority process avoiding priority inversion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1851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Higher-level synchronization construct</a:t>
            </a:r>
          </a:p>
          <a:p>
            <a:pPr lvl="1"/>
            <a:r>
              <a:rPr lang="en-US" dirty="0"/>
              <a:t>Designed by </a:t>
            </a:r>
            <a:r>
              <a:rPr lang="en-US" dirty="0" err="1"/>
              <a:t>Edsger</a:t>
            </a:r>
            <a:r>
              <a:rPr lang="en-US" dirty="0"/>
              <a:t> </a:t>
            </a:r>
            <a:r>
              <a:rPr lang="en-US" dirty="0" err="1"/>
              <a:t>Dijkstra</a:t>
            </a:r>
            <a:r>
              <a:rPr lang="en-US" dirty="0"/>
              <a:t> in 1960’s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45</a:t>
            </a:fld>
            <a:endParaRPr lang="en-GB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20" y="2204864"/>
            <a:ext cx="5400760" cy="3780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3247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Synchronization variable accessed by</a:t>
            </a:r>
          </a:p>
          <a:p>
            <a:pPr lvl="1"/>
            <a:r>
              <a:rPr lang="en-US" dirty="0"/>
              <a:t>System calls of the operating system</a:t>
            </a:r>
          </a:p>
          <a:p>
            <a:pPr lvl="1"/>
            <a:r>
              <a:rPr lang="en-US" dirty="0"/>
              <a:t>Associated with a queue of </a:t>
            </a:r>
            <a:r>
              <a:rPr lang="en-US" b="1" dirty="0"/>
              <a:t>blocked processes</a:t>
            </a:r>
          </a:p>
          <a:p>
            <a:r>
              <a:rPr lang="en-US" dirty="0"/>
              <a:t>Accessible via atomic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wait()</a:t>
            </a:r>
            <a:r>
              <a:rPr lang="en-US" dirty="0"/>
              <a:t>  and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signal()</a:t>
            </a:r>
            <a:r>
              <a:rPr lang="en-US" dirty="0"/>
              <a:t> operations</a:t>
            </a:r>
          </a:p>
          <a:p>
            <a:pPr lvl="1"/>
            <a:r>
              <a:rPr lang="en-US" dirty="0"/>
              <a:t>Originally called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P()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V()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 semaphore semantics possible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Binary: </a:t>
            </a:r>
            <a:r>
              <a:rPr lang="en-US" dirty="0"/>
              <a:t>Only one process at a time makes progress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General (counting): </a:t>
            </a:r>
            <a:r>
              <a:rPr lang="en-US" dirty="0"/>
              <a:t>n processes at a time make progress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46</a:t>
            </a:fld>
            <a:endParaRPr lang="en-GB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3891" y="3212976"/>
            <a:ext cx="8496300" cy="12961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0070C0"/>
                </a:solidFill>
              </a:rPr>
              <a:t>wait():    </a:t>
            </a:r>
            <a:r>
              <a:rPr lang="en-US" kern="0" dirty="0"/>
              <a:t>Process blocks until a signal is received</a:t>
            </a:r>
          </a:p>
          <a:p>
            <a:pPr marL="0" indent="0">
              <a:buNone/>
            </a:pPr>
            <a:r>
              <a:rPr lang="en-US" b="1" kern="0" dirty="0">
                <a:solidFill>
                  <a:srgbClr val="0070C0"/>
                </a:solidFill>
              </a:rPr>
              <a:t>signal():  </a:t>
            </a:r>
            <a:r>
              <a:rPr lang="en-US" kern="0" dirty="0"/>
              <a:t>Another process can make progress: Process in the queue,  </a:t>
            </a:r>
          </a:p>
          <a:p>
            <a:pPr marL="0" indent="0">
              <a:buNone/>
            </a:pPr>
            <a:r>
              <a:rPr lang="en-US" kern="0" dirty="0"/>
              <a:t>               next process calling wait()</a:t>
            </a:r>
          </a:p>
          <a:p>
            <a:endParaRPr lang="en-US" kern="0" dirty="0"/>
          </a:p>
        </p:txBody>
      </p:sp>
      <p:pic>
        <p:nvPicPr>
          <p:cNvPr id="8" name="Picture 6" descr="C:\Users\koldehbs\AppData\Local\Microsoft\Windows\Temporary Internet Files\Content.IE5\EQKE64NY\MCTN01269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192" y="292105"/>
            <a:ext cx="2684127" cy="16652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663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Semaphore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47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93610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Wait: </a:t>
            </a:r>
            <a:r>
              <a:rPr lang="en-US" dirty="0"/>
              <a:t>Process blocks if state of semaphore is 0</a:t>
            </a:r>
          </a:p>
          <a:p>
            <a:r>
              <a:rPr lang="en-US" dirty="0">
                <a:solidFill>
                  <a:srgbClr val="0070C0"/>
                </a:solidFill>
              </a:rPr>
              <a:t>Signal: </a:t>
            </a:r>
            <a:r>
              <a:rPr lang="en-US" dirty="0"/>
              <a:t>Unblocks a process or sets the state of the semaphore to 1</a:t>
            </a:r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11560" y="2735839"/>
            <a:ext cx="3600400" cy="142379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800" kern="0" dirty="0">
                <a:latin typeface="Consolas" panose="020B0609020204030204" pitchFamily="49" charset="0"/>
                <a:cs typeface="Courier New" panose="02070309020205020404" pitchFamily="49" charset="0"/>
              </a:rPr>
              <a:t>wait () / P() { </a:t>
            </a:r>
          </a:p>
          <a:p>
            <a:pPr>
              <a:buFontTx/>
              <a:buNone/>
            </a:pPr>
            <a:r>
              <a:rPr lang="en-US" sz="18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while S &lt;= 0 ; // no-op</a:t>
            </a:r>
          </a:p>
          <a:p>
            <a:pPr>
              <a:buFontTx/>
              <a:buNone/>
            </a:pPr>
            <a:r>
              <a:rPr lang="en-US" sz="18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S--;</a:t>
            </a:r>
          </a:p>
          <a:p>
            <a:pPr>
              <a:buFontTx/>
              <a:buNone/>
            </a:pPr>
            <a:r>
              <a:rPr lang="en-US" sz="180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932388" y="2735838"/>
            <a:ext cx="3600400" cy="142379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800" kern="0" dirty="0">
                <a:latin typeface="Consolas" panose="020B0609020204030204" pitchFamily="49" charset="0"/>
                <a:cs typeface="Courier New" panose="02070309020205020404" pitchFamily="49" charset="0"/>
              </a:rPr>
              <a:t>signal () / V()  { </a:t>
            </a:r>
          </a:p>
          <a:p>
            <a:pPr>
              <a:buFontTx/>
              <a:buNone/>
            </a:pPr>
            <a:r>
              <a:rPr lang="en-US" sz="18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S++;</a:t>
            </a:r>
          </a:p>
          <a:p>
            <a:pPr>
              <a:buFontTx/>
              <a:buNone/>
            </a:pPr>
            <a:r>
              <a:rPr lang="en-US" sz="180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560" y="4375628"/>
            <a:ext cx="36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atomic operation that waits for semaphore to become positive then decrements it by 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2388" y="4375628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atomic operation that increments semaphore by 1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 rot="2259937">
            <a:off x="3222732" y="2836703"/>
            <a:ext cx="1752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Atomic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 rot="2259937">
            <a:off x="7432218" y="2836703"/>
            <a:ext cx="1752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Atomic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1924" y="5525710"/>
            <a:ext cx="4500152" cy="46166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How to avoid busy waiting?</a:t>
            </a:r>
          </a:p>
        </p:txBody>
      </p:sp>
    </p:spTree>
    <p:extLst>
      <p:ext uri="{BB962C8B-B14F-4D97-AF65-F5344CB8AC3E}">
        <p14:creationId xmlns:p14="http://schemas.microsoft.com/office/powerpoint/2010/main" val="414043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Busy-waiting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48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with hardware and software based implementations </a:t>
            </a:r>
          </a:p>
          <a:p>
            <a:pPr lvl="1"/>
            <a:r>
              <a:rPr lang="en-US" dirty="0"/>
              <a:t>If one thread already has the lock, and another thread T wants to acquire the lock</a:t>
            </a:r>
          </a:p>
          <a:p>
            <a:pPr lvl="1"/>
            <a:r>
              <a:rPr lang="en-US" dirty="0"/>
              <a:t>Acquiring thread T waste CPU’s time by executing the Idle loop</a:t>
            </a:r>
          </a:p>
          <a:p>
            <a:pPr lvl="4"/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To avoid CPU time </a:t>
            </a:r>
          </a:p>
          <a:p>
            <a:r>
              <a:rPr lang="en-US" dirty="0"/>
              <a:t>If a thread (process) T cannot enter critical section</a:t>
            </a:r>
          </a:p>
          <a:p>
            <a:pPr lvl="1"/>
            <a:r>
              <a:rPr lang="en-US" dirty="0"/>
              <a:t>T’s status should be changed from </a:t>
            </a:r>
            <a:r>
              <a:rPr lang="en-US" dirty="0">
                <a:solidFill>
                  <a:srgbClr val="0070C0"/>
                </a:solidFill>
              </a:rPr>
              <a:t>Running</a:t>
            </a:r>
            <a:r>
              <a:rPr lang="en-US" dirty="0"/>
              <a:t> to </a:t>
            </a:r>
            <a:r>
              <a:rPr lang="en-US" dirty="0">
                <a:solidFill>
                  <a:srgbClr val="0070C0"/>
                </a:solidFill>
              </a:rPr>
              <a:t>Blocked</a:t>
            </a:r>
          </a:p>
          <a:p>
            <a:pPr lvl="1"/>
            <a:r>
              <a:rPr lang="en-US" dirty="0"/>
              <a:t>T should be removed from the </a:t>
            </a:r>
            <a:r>
              <a:rPr lang="en-US" dirty="0">
                <a:solidFill>
                  <a:srgbClr val="0070C0"/>
                </a:solidFill>
              </a:rPr>
              <a:t>ready list</a:t>
            </a:r>
            <a:r>
              <a:rPr lang="en-US" dirty="0"/>
              <a:t> and entered in a </a:t>
            </a:r>
            <a:r>
              <a:rPr lang="en-US" dirty="0">
                <a:solidFill>
                  <a:srgbClr val="0070C0"/>
                </a:solidFill>
              </a:rPr>
              <a:t>block list</a:t>
            </a:r>
          </a:p>
          <a:p>
            <a:pPr lvl="4"/>
            <a:endParaRPr lang="en-US" dirty="0"/>
          </a:p>
          <a:p>
            <a:r>
              <a:rPr lang="en-US" dirty="0"/>
              <a:t>When T enters critical section</a:t>
            </a:r>
          </a:p>
          <a:p>
            <a:pPr lvl="1"/>
            <a:r>
              <a:rPr lang="en-US" dirty="0"/>
              <a:t>T’s status should be changed from </a:t>
            </a:r>
            <a:r>
              <a:rPr lang="en-US" dirty="0">
                <a:solidFill>
                  <a:srgbClr val="0070C0"/>
                </a:solidFill>
              </a:rPr>
              <a:t>Blocked</a:t>
            </a:r>
            <a:r>
              <a:rPr lang="en-US" dirty="0"/>
              <a:t> to </a:t>
            </a:r>
            <a:r>
              <a:rPr lang="en-US" dirty="0">
                <a:solidFill>
                  <a:srgbClr val="0070C0"/>
                </a:solidFill>
              </a:rPr>
              <a:t>Ready/Running</a:t>
            </a:r>
          </a:p>
          <a:p>
            <a:pPr lvl="1"/>
            <a:r>
              <a:rPr lang="en-US" dirty="0"/>
              <a:t>T should be entered in the </a:t>
            </a:r>
            <a:r>
              <a:rPr lang="en-US" dirty="0">
                <a:solidFill>
                  <a:srgbClr val="0070C0"/>
                </a:solidFill>
              </a:rPr>
              <a:t>ready list</a:t>
            </a:r>
          </a:p>
        </p:txBody>
      </p:sp>
    </p:spTree>
    <p:extLst>
      <p:ext uri="{BB962C8B-B14F-4D97-AF65-F5344CB8AC3E}">
        <p14:creationId xmlns:p14="http://schemas.microsoft.com/office/powerpoint/2010/main" val="82479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Busy-waiting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49</a:t>
            </a:fld>
            <a:endParaRPr lang="en-GB"/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4997028" y="1711226"/>
            <a:ext cx="1271588" cy="6016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kumimoji="1" lang="en-US" altLang="zh-TW" sz="1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Running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903116" y="1711226"/>
            <a:ext cx="1273175" cy="6016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kumimoji="1" lang="en-US" altLang="zh-TW" sz="1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Ready</a:t>
            </a:r>
          </a:p>
        </p:txBody>
      </p:sp>
      <p:sp>
        <p:nvSpPr>
          <p:cNvPr id="19" name="Line 30"/>
          <p:cNvSpPr>
            <a:spLocks noChangeShapeType="1"/>
          </p:cNvSpPr>
          <p:nvPr/>
        </p:nvSpPr>
        <p:spPr bwMode="auto">
          <a:xfrm>
            <a:off x="4120728" y="1995389"/>
            <a:ext cx="933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noFill/>
              </a14:hiddenFill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4101678" y="1412776"/>
            <a:ext cx="95859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0" hangingPunct="0">
              <a:defRPr/>
            </a:pPr>
            <a:r>
              <a:rPr kumimoji="1" lang="en-US" altLang="zh-TW" sz="16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Dispatch</a:t>
            </a: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2903116" y="4365526"/>
            <a:ext cx="1271587" cy="6016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kumimoji="1" lang="en-US" altLang="zh-TW" sz="180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Blocked</a:t>
            </a:r>
          </a:p>
        </p:txBody>
      </p:sp>
      <p:sp>
        <p:nvSpPr>
          <p:cNvPr id="22" name="Line 35"/>
          <p:cNvSpPr>
            <a:spLocks noChangeShapeType="1"/>
          </p:cNvSpPr>
          <p:nvPr/>
        </p:nvSpPr>
        <p:spPr bwMode="auto">
          <a:xfrm flipV="1">
            <a:off x="3573041" y="2314476"/>
            <a:ext cx="0" cy="2051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noFill/>
              </a14:hiddenFill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580728" y="2985989"/>
            <a:ext cx="1981200" cy="606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  <a:defRPr/>
            </a:pPr>
            <a:r>
              <a:rPr kumimoji="1" lang="en-US" altLang="zh-TW" sz="16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Enter the </a:t>
            </a:r>
          </a:p>
          <a:p>
            <a:pPr eaLnBrk="0" hangingPunct="0">
              <a:lnSpc>
                <a:spcPct val="70000"/>
              </a:lnSpc>
              <a:defRPr/>
            </a:pPr>
            <a:endParaRPr kumimoji="1" lang="en-US" altLang="zh-TW" sz="1600" dirty="0">
              <a:solidFill>
                <a:srgbClr val="33333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>
              <a:lnSpc>
                <a:spcPct val="70000"/>
              </a:lnSpc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Critical Section</a:t>
            </a:r>
          </a:p>
        </p:txBody>
      </p:sp>
      <p:sp>
        <p:nvSpPr>
          <p:cNvPr id="24" name="Line 37"/>
          <p:cNvSpPr>
            <a:spLocks noChangeShapeType="1"/>
          </p:cNvSpPr>
          <p:nvPr/>
        </p:nvSpPr>
        <p:spPr bwMode="auto">
          <a:xfrm flipH="1">
            <a:off x="4047703" y="2325589"/>
            <a:ext cx="1287463" cy="2103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noFill/>
              </a14:hiddenFill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4789066" y="3203476"/>
            <a:ext cx="2735262" cy="606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  <a:defRPr/>
            </a:pPr>
            <a:r>
              <a:rPr kumimoji="1" lang="en-US" altLang="zh-TW" sz="16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Cannot Enter the</a:t>
            </a:r>
          </a:p>
          <a:p>
            <a:pPr eaLnBrk="0" hangingPunct="0">
              <a:lnSpc>
                <a:spcPct val="70000"/>
              </a:lnSpc>
              <a:defRPr/>
            </a:pPr>
            <a:r>
              <a:rPr kumimoji="1" lang="en-US" altLang="zh-TW" sz="1600" dirty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eaLnBrk="0" hangingPunct="0">
              <a:lnSpc>
                <a:spcPct val="70000"/>
              </a:lnSpc>
              <a:defRPr/>
            </a:pPr>
            <a:r>
              <a:rPr kumimoji="1" lang="en-US" altLang="zh-TW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Critical Section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616167" y="5598950"/>
            <a:ext cx="3117072" cy="46166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lc="http://schemas.openxmlformats.org/drawingml/2006/lockedCanvas"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CPU time wastage</a:t>
            </a:r>
          </a:p>
        </p:txBody>
      </p:sp>
    </p:spTree>
    <p:extLst>
      <p:ext uri="{BB962C8B-B14F-4D97-AF65-F5344CB8AC3E}">
        <p14:creationId xmlns:p14="http://schemas.microsoft.com/office/powerpoint/2010/main" val="46132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Sleep/Block and Wakeup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sleep()/block()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wakeup()</a:t>
            </a:r>
            <a:r>
              <a:rPr lang="en-US" dirty="0"/>
              <a:t> </a:t>
            </a:r>
            <a:r>
              <a:rPr lang="en-US" b="1" dirty="0"/>
              <a:t>can</a:t>
            </a:r>
            <a:r>
              <a:rPr lang="en-US" dirty="0"/>
              <a:t> be two system calls</a:t>
            </a:r>
          </a:p>
          <a:p>
            <a:pPr lvl="4"/>
            <a:endParaRPr lang="en-US" dirty="0"/>
          </a:p>
          <a:p>
            <a:r>
              <a:rPr lang="en-US" dirty="0"/>
              <a:t>When a process P</a:t>
            </a:r>
            <a:r>
              <a:rPr lang="en-US" baseline="-25000" dirty="0"/>
              <a:t>i</a:t>
            </a:r>
            <a:r>
              <a:rPr lang="en-US" dirty="0"/>
              <a:t> determines that it can not enter the CS it calls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sleep()/block()</a:t>
            </a:r>
          </a:p>
          <a:p>
            <a:pPr lvl="1"/>
            <a:r>
              <a:rPr lang="en-US" dirty="0"/>
              <a:t>Pi entered in the block list</a:t>
            </a:r>
          </a:p>
          <a:p>
            <a:pPr lvl="4"/>
            <a:endParaRPr lang="en-US" dirty="0"/>
          </a:p>
          <a:p>
            <a:r>
              <a:rPr lang="en-US" dirty="0"/>
              <a:t>When the other process finishes with the CS, it wakes up P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wakeup(P</a:t>
            </a:r>
            <a:r>
              <a:rPr lang="en-US" baseline="-25000" dirty="0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entered in the ready list</a:t>
            </a:r>
          </a:p>
          <a:p>
            <a:pPr lvl="4"/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wakeup()</a:t>
            </a:r>
            <a:r>
              <a:rPr lang="en-US" dirty="0"/>
              <a:t> takes a single input parameter, which is the ID of the process to be unblocked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2198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Wait: </a:t>
            </a:r>
            <a:r>
              <a:rPr lang="en-US" dirty="0"/>
              <a:t>Process blocks if state of semaphore is 0</a:t>
            </a:r>
          </a:p>
          <a:p>
            <a:r>
              <a:rPr lang="en-US" dirty="0">
                <a:solidFill>
                  <a:srgbClr val="0070C0"/>
                </a:solidFill>
              </a:rPr>
              <a:t>Signal: </a:t>
            </a:r>
            <a:r>
              <a:rPr lang="en-US" dirty="0"/>
              <a:t>Unblocks a process or sets the state of the semaphore to 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51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29801" y="1970384"/>
            <a:ext cx="4171950" cy="443861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struct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bin_sem_t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buFontTx/>
              <a:buNone/>
            </a:pP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{zero, one} value;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queueType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queue; 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/* Can be linked list of PCB */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Tx/>
              <a:buNone/>
            </a:pP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wait(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bin_sem_t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s) 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s.value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==1)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s.value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=0;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/* block and place current              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      process  in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*/</a:t>
            </a:r>
            <a:endParaRPr lang="en-US" sz="1600" b="1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state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(current) = BLOCKED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append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, current)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ontent Placeholder 6"/>
          <p:cNvSpPr txBox="1">
            <a:spLocks/>
          </p:cNvSpPr>
          <p:nvPr/>
        </p:nvSpPr>
        <p:spPr>
          <a:xfrm>
            <a:off x="4648200" y="2000042"/>
            <a:ext cx="4171950" cy="330116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signal(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bin_sem_t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s) 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isempty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s.value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=1;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 /* unblock and remove first    	  process from s */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 p=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pop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);	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state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(p) = READY/RUNNING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054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Count: </a:t>
            </a:r>
            <a:r>
              <a:rPr lang="en-US" dirty="0"/>
              <a:t>Determines no. of processes that can still pass semaphore</a:t>
            </a:r>
          </a:p>
          <a:p>
            <a:r>
              <a:rPr lang="en-US" dirty="0">
                <a:solidFill>
                  <a:srgbClr val="0070C0"/>
                </a:solidFill>
              </a:rPr>
              <a:t>Wait: </a:t>
            </a:r>
            <a:r>
              <a:rPr lang="en-US" dirty="0"/>
              <a:t>Decreases count and blocks if count is &lt; 0</a:t>
            </a:r>
          </a:p>
          <a:p>
            <a:r>
              <a:rPr lang="en-US" dirty="0">
                <a:solidFill>
                  <a:srgbClr val="0070C0"/>
                </a:solidFill>
              </a:rPr>
              <a:t>Signal: </a:t>
            </a:r>
            <a:r>
              <a:rPr lang="en-US" dirty="0"/>
              <a:t>Unblocks a process or increases count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52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29801" y="2290268"/>
            <a:ext cx="4171950" cy="410527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struct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sem_t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buFontTx/>
              <a:buNone/>
            </a:pP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count;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queueType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queue;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Tx/>
              <a:buNone/>
            </a:pPr>
            <a:endParaRPr lang="en-US" sz="1600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wait(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sem_t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s) 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--;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&lt; 0)  </a:t>
            </a:r>
          </a:p>
          <a:p>
            <a:pPr>
              <a:buFontTx/>
              <a:buNone/>
            </a:pP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/* block and place current       	  process  in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*/</a:t>
            </a:r>
            <a:endParaRPr lang="en-US" sz="1600" b="1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state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(current) = BLOCKED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append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, current)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721424" y="2303688"/>
            <a:ext cx="4171950" cy="27546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 signal(</a:t>
            </a:r>
            <a:r>
              <a:rPr lang="en-US" sz="1600" b="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sem_t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 s) {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++;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1600" b="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 ≤ 0){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/* unblock and remove  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    first  process from s */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p=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pop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b="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);	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state</a:t>
            </a: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(p) = RUNNING/READY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Tx/>
              <a:buNone/>
            </a:pPr>
            <a:r>
              <a:rPr lang="en-US" sz="1600" b="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6664" y="5600569"/>
            <a:ext cx="4187824" cy="46166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How to ensure atomicity?</a:t>
            </a:r>
          </a:p>
        </p:txBody>
      </p:sp>
    </p:spTree>
    <p:extLst>
      <p:ext uri="{BB962C8B-B14F-4D97-AF65-F5344CB8AC3E}">
        <p14:creationId xmlns:p14="http://schemas.microsoft.com/office/powerpoint/2010/main" val="396871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29614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Problem: </a:t>
            </a:r>
            <a:r>
              <a:rPr lang="en-US" dirty="0"/>
              <a:t>Concurrent calls of signal and wait</a:t>
            </a:r>
          </a:p>
          <a:p>
            <a:r>
              <a:rPr lang="en-US" dirty="0">
                <a:solidFill>
                  <a:srgbClr val="0070C0"/>
                </a:solidFill>
              </a:rPr>
              <a:t>Solution: </a:t>
            </a:r>
            <a:r>
              <a:rPr lang="en-US" dirty="0"/>
              <a:t>Use hardware synchronization!</a:t>
            </a:r>
          </a:p>
          <a:p>
            <a:r>
              <a:rPr lang="en-US" dirty="0">
                <a:solidFill>
                  <a:srgbClr val="0070C0"/>
                </a:solidFill>
              </a:rPr>
              <a:t>Properties: </a:t>
            </a:r>
            <a:r>
              <a:rPr lang="en-US" dirty="0"/>
              <a:t>Still limited busy waiting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53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23528" y="2579117"/>
            <a:ext cx="4171950" cy="35290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29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29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wait(</a:t>
            </a:r>
            <a:r>
              <a:rPr lang="en-US" sz="29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sem_t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 s)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9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/* mode switch */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900" b="1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sz="29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2900" kern="0" dirty="0" err="1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testset</a:t>
            </a:r>
            <a:r>
              <a:rPr lang="en-US" sz="29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900" kern="0" dirty="0" err="1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s.flag</a:t>
            </a:r>
            <a:r>
              <a:rPr lang="en-US" sz="29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9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--;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9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29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 &lt; 0) {</a:t>
            </a:r>
          </a:p>
          <a:p>
            <a:pPr>
              <a:buFontTx/>
              <a:buNone/>
            </a:pPr>
            <a:r>
              <a:rPr lang="en-US" sz="29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/* block and place current            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     process  in </a:t>
            </a:r>
            <a:r>
              <a:rPr lang="en-US" sz="29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*/</a:t>
            </a:r>
            <a:endParaRPr lang="en-US" sz="2900" b="1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29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state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(current) = BLOCKED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29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append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9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, current)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900" kern="0" dirty="0" err="1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s.flag</a:t>
            </a:r>
            <a:r>
              <a:rPr lang="en-US" sz="29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=0;</a:t>
            </a:r>
          </a:p>
          <a:p>
            <a:pPr>
              <a:buFontTx/>
              <a:buNone/>
            </a:pPr>
            <a:r>
              <a:rPr lang="en-US" sz="290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ontent Placeholder 6"/>
          <p:cNvSpPr txBox="1">
            <a:spLocks/>
          </p:cNvSpPr>
          <p:nvPr/>
        </p:nvSpPr>
        <p:spPr>
          <a:xfrm>
            <a:off x="4645367" y="2579117"/>
            <a:ext cx="4222866" cy="351830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sz="1600" b="1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signal(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sem_t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s) 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/* mode switch */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sz="1600" kern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(testset</a:t>
            </a:r>
            <a:r>
              <a:rPr lang="en-US" sz="16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kern="0" dirty="0" err="1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s.flag</a:t>
            </a:r>
            <a:r>
              <a:rPr lang="en-US" sz="16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));</a:t>
            </a:r>
            <a:endParaRPr lang="en-US" sz="1600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++;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s.count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≤ 0) {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/* unblock and remove  </a:t>
            </a:r>
          </a:p>
          <a:p>
            <a:pPr>
              <a:spcBef>
                <a:spcPts val="24"/>
              </a:spcBef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         first  process from s */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p=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pop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kern="0" dirty="0" err="1">
                <a:latin typeface="Consolas" panose="020B0609020204030204" pitchFamily="49" charset="0"/>
                <a:cs typeface="Courier New" panose="02070309020205020404" pitchFamily="49" charset="0"/>
              </a:rPr>
              <a:t>s.queue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);	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   </a:t>
            </a:r>
            <a:r>
              <a:rPr lang="en-US" sz="1600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state</a:t>
            </a: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(p) = RUNNING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600" kern="0" dirty="0" err="1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s.flag</a:t>
            </a:r>
            <a:r>
              <a:rPr lang="en-US" sz="1600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=0;</a:t>
            </a:r>
            <a:endParaRPr lang="en-US" sz="1600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kern="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007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Section Using 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4509120"/>
            <a:ext cx="8496300" cy="17281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Properties: </a:t>
            </a:r>
          </a:p>
          <a:p>
            <a:r>
              <a:rPr lang="en-US" dirty="0"/>
              <a:t>Again simple</a:t>
            </a:r>
          </a:p>
          <a:p>
            <a:r>
              <a:rPr lang="en-US" dirty="0"/>
              <a:t>No busy waiting </a:t>
            </a:r>
          </a:p>
          <a:p>
            <a:r>
              <a:rPr lang="en-US" dirty="0"/>
              <a:t>Fair if queues of semaphores are implemented fair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54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auto">
          <a:xfrm>
            <a:off x="323528" y="1248169"/>
            <a:ext cx="8586787" cy="31165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Shared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0" kern="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mutex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of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semaphore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b="0" kern="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init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=1)</a:t>
            </a: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Process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</a:t>
            </a:r>
            <a:r>
              <a:rPr lang="en-US" kern="0" baseline="-25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	</a:t>
            </a: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1: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repeat</a:t>
            </a:r>
            <a:endParaRPr lang="en-US" b="0" kern="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2:  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wait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0" kern="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mutex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3:     </a:t>
            </a:r>
            <a:r>
              <a:rPr lang="en-US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critical section</a:t>
            </a: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4:  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signal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0" kern="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mutex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5:     </a:t>
            </a:r>
            <a:r>
              <a:rPr lang="en-US" kern="0" dirty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remainder section</a:t>
            </a:r>
          </a:p>
          <a:p>
            <a:pPr marL="228600" lvl="0" indent="-228600">
              <a:spcBef>
                <a:spcPct val="20000"/>
              </a:spcBef>
              <a:buClr>
                <a:srgbClr val="000000"/>
              </a:buClr>
              <a:tabLst>
                <a:tab pos="2513013" algn="l"/>
                <a:tab pos="2857500" algn="l"/>
                <a:tab pos="3148013" algn="l"/>
              </a:tabLst>
            </a:pP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6: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until</a:t>
            </a:r>
            <a:r>
              <a:rPr lang="en-US" b="0" kern="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false;</a:t>
            </a:r>
          </a:p>
        </p:txBody>
      </p:sp>
    </p:spTree>
    <p:extLst>
      <p:ext uri="{BB962C8B-B14F-4D97-AF65-F5344CB8AC3E}">
        <p14:creationId xmlns:p14="http://schemas.microsoft.com/office/powerpoint/2010/main" val="12436131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Use of Semaphores Can Lead to Deadlocks!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04056"/>
          </a:xfrm>
        </p:spPr>
        <p:txBody>
          <a:bodyPr/>
          <a:lstStyle/>
          <a:p>
            <a:r>
              <a:rPr lang="en-US" dirty="0"/>
              <a:t>Let S and Q be two semaphores initialized to 1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55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807804" y="2197643"/>
            <a:ext cx="392478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kern="0" dirty="0">
                <a:latin typeface="Consolas" panose="020B0609020204030204" pitchFamily="49" charset="0"/>
              </a:rPr>
              <a:t>  P</a:t>
            </a:r>
            <a:r>
              <a:rPr lang="en-US" kern="0" baseline="-25000" dirty="0">
                <a:latin typeface="Consolas" panose="020B0609020204030204" pitchFamily="49" charset="0"/>
              </a:rPr>
              <a:t>0</a:t>
            </a:r>
            <a:r>
              <a:rPr lang="en-US" kern="0" dirty="0">
                <a:latin typeface="Consolas" panose="020B0609020204030204" pitchFamily="49" charset="0"/>
              </a:rPr>
              <a:t>	            P</a:t>
            </a:r>
            <a:r>
              <a:rPr lang="en-US" kern="0" baseline="-25000" dirty="0">
                <a:latin typeface="Consolas" panose="020B0609020204030204" pitchFamily="49" charset="0"/>
              </a:rPr>
              <a:t>1</a:t>
            </a:r>
            <a:endParaRPr lang="en-US" kern="0" dirty="0">
              <a:latin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kern="0" dirty="0">
                <a:latin typeface="Consolas" panose="020B0609020204030204" pitchFamily="49" charset="0"/>
              </a:rPr>
              <a:t>		</a:t>
            </a:r>
          </a:p>
          <a:p>
            <a:pPr>
              <a:buFontTx/>
              <a:buNone/>
            </a:pPr>
            <a:r>
              <a:rPr lang="en-US" kern="0" dirty="0">
                <a:latin typeface="Consolas" panose="020B0609020204030204" pitchFamily="49" charset="0"/>
              </a:rPr>
              <a:t>wait(S);	   wait(Q);</a:t>
            </a:r>
          </a:p>
          <a:p>
            <a:pPr>
              <a:buFontTx/>
              <a:buNone/>
            </a:pPr>
            <a:r>
              <a:rPr lang="en-US" kern="0" dirty="0">
                <a:latin typeface="Consolas" panose="020B0609020204030204" pitchFamily="49" charset="0"/>
              </a:rPr>
              <a:t>wait(Q);	   wait(S);</a:t>
            </a:r>
          </a:p>
          <a:p>
            <a:pPr>
              <a:buFontTx/>
              <a:buNone/>
            </a:pPr>
            <a:r>
              <a:rPr lang="en-US" kern="0" dirty="0">
                <a:latin typeface="Consolas" panose="020B0609020204030204" pitchFamily="49" charset="0"/>
              </a:rPr>
              <a:t>	 </a:t>
            </a:r>
            <a:r>
              <a:rPr lang="en-US" kern="0" dirty="0">
                <a:latin typeface="Consolas" panose="020B0609020204030204" pitchFamily="49" charset="0"/>
                <a:sym typeface="MT Extra" pitchFamily="18" charset="2"/>
              </a:rPr>
              <a:t>	             </a:t>
            </a:r>
          </a:p>
          <a:p>
            <a:pPr>
              <a:buFontTx/>
              <a:buNone/>
            </a:pPr>
            <a:r>
              <a:rPr lang="en-US" kern="0" dirty="0">
                <a:latin typeface="Consolas" panose="020B0609020204030204" pitchFamily="49" charset="0"/>
                <a:sym typeface="MT Extra" pitchFamily="18" charset="2"/>
              </a:rPr>
              <a:t>signal(S);	   signal(Q);</a:t>
            </a:r>
          </a:p>
          <a:p>
            <a:pPr>
              <a:buFontTx/>
              <a:buNone/>
            </a:pPr>
            <a:r>
              <a:rPr lang="en-US" kern="0" dirty="0">
                <a:latin typeface="Consolas" panose="020B0609020204030204" pitchFamily="49" charset="0"/>
                <a:sym typeface="MT Extra" pitchFamily="18" charset="2"/>
              </a:rPr>
              <a:t>signal(Q):	   signal(S);</a:t>
            </a:r>
          </a:p>
          <a:p>
            <a:endParaRPr lang="en-US" kern="0" dirty="0">
              <a:latin typeface="Consolas" panose="020B0609020204030204" pitchFamily="49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462282" y="2991232"/>
            <a:ext cx="365760" cy="3657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716016" y="2991232"/>
            <a:ext cx="365760" cy="3657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2462282" y="3420056"/>
            <a:ext cx="365760" cy="3657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4716016" y="3420056"/>
            <a:ext cx="365760" cy="3657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7835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Critical section synchronization very common </a:t>
            </a:r>
          </a:p>
          <a:p>
            <a:pPr lvl="3"/>
            <a:endParaRPr lang="en-US" dirty="0"/>
          </a:p>
          <a:p>
            <a:r>
              <a:rPr lang="en-US" b="1" dirty="0"/>
              <a:t>Problems </a:t>
            </a:r>
          </a:p>
          <a:p>
            <a:pPr lvl="1"/>
            <a:r>
              <a:rPr lang="en-US" dirty="0"/>
              <a:t>Synchronization on many variables becomes increasingly complicated</a:t>
            </a:r>
          </a:p>
          <a:p>
            <a:pPr lvl="1"/>
            <a:r>
              <a:rPr lang="en-US" dirty="0"/>
              <a:t>Deadlock because of bad programming likely to happen</a:t>
            </a:r>
          </a:p>
          <a:p>
            <a:pPr lvl="3"/>
            <a:endParaRPr lang="en-US" dirty="0"/>
          </a:p>
          <a:p>
            <a:r>
              <a:rPr lang="en-US" b="1" dirty="0"/>
              <a:t>Idea: </a:t>
            </a:r>
            <a:r>
              <a:rPr lang="en-US" dirty="0"/>
              <a:t>Understand useful synchronization patterns that match IPC patterns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Consumers/Producer problem </a:t>
            </a:r>
          </a:p>
          <a:p>
            <a:pPr lvl="2"/>
            <a:r>
              <a:rPr lang="en-US" dirty="0"/>
              <a:t>High degree of concurrency by decoupling of tasks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Dining Philosophers </a:t>
            </a:r>
          </a:p>
          <a:p>
            <a:pPr lvl="2"/>
            <a:r>
              <a:rPr lang="en-US" dirty="0"/>
              <a:t>Coordinate access to resources</a:t>
            </a:r>
          </a:p>
          <a:p>
            <a:pPr lvl="1"/>
            <a:r>
              <a:rPr lang="en-US" dirty="0"/>
              <a:t>Readers Writers Problem </a:t>
            </a:r>
          </a:p>
          <a:p>
            <a:pPr lvl="2"/>
            <a:r>
              <a:rPr lang="en-US" dirty="0"/>
              <a:t>Coordinate access to shared data structures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6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Problem Revisited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known as </a:t>
            </a:r>
            <a:r>
              <a:rPr lang="en-US" dirty="0">
                <a:solidFill>
                  <a:srgbClr val="0070C0"/>
                </a:solidFill>
              </a:rPr>
              <a:t>bounded buffer problem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Overall problem description </a:t>
            </a:r>
          </a:p>
          <a:p>
            <a:pPr lvl="1"/>
            <a:r>
              <a:rPr lang="en-US" dirty="0"/>
              <a:t>A buffer can hold N items</a:t>
            </a:r>
          </a:p>
          <a:p>
            <a:pPr lvl="1"/>
            <a:r>
              <a:rPr lang="en-US" dirty="0"/>
              <a:t>Producer pushes items into the buffer</a:t>
            </a:r>
          </a:p>
          <a:p>
            <a:pPr lvl="1"/>
            <a:r>
              <a:rPr lang="en-US" dirty="0"/>
              <a:t>Consumer pulls items from the buffer </a:t>
            </a:r>
          </a:p>
          <a:p>
            <a:pPr lvl="1"/>
            <a:r>
              <a:rPr lang="en-US" dirty="0"/>
              <a:t>Producer needs to wait when buffer is full</a:t>
            </a:r>
          </a:p>
          <a:p>
            <a:pPr lvl="1"/>
            <a:r>
              <a:rPr lang="en-US" dirty="0"/>
              <a:t>Consumer needs to wait when the buffer is empty</a:t>
            </a:r>
          </a:p>
          <a:p>
            <a:pPr lvl="1"/>
            <a:endParaRPr lang="en-US" dirty="0"/>
          </a:p>
          <a:p>
            <a:pPr lvl="3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57</a:t>
            </a:fld>
            <a:endParaRPr lang="en-GB"/>
          </a:p>
        </p:txBody>
      </p:sp>
      <p:sp>
        <p:nvSpPr>
          <p:cNvPr id="92" name="AutoShape 2"/>
          <p:cNvSpPr>
            <a:spLocks noChangeArrowheads="1"/>
          </p:cNvSpPr>
          <p:nvPr/>
        </p:nvSpPr>
        <p:spPr bwMode="auto">
          <a:xfrm>
            <a:off x="4345955" y="2348880"/>
            <a:ext cx="427038" cy="427038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3" name="AutoShape 3"/>
          <p:cNvSpPr>
            <a:spLocks noChangeArrowheads="1"/>
          </p:cNvSpPr>
          <p:nvPr/>
        </p:nvSpPr>
        <p:spPr bwMode="auto">
          <a:xfrm>
            <a:off x="5198443" y="2348880"/>
            <a:ext cx="427037" cy="427038"/>
          </a:xfrm>
          <a:prstGeom prst="roundRect">
            <a:avLst>
              <a:gd name="adj" fmla="val 333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4" name="AutoShape 4"/>
          <p:cNvSpPr>
            <a:spLocks noChangeArrowheads="1"/>
          </p:cNvSpPr>
          <p:nvPr/>
        </p:nvSpPr>
        <p:spPr bwMode="auto">
          <a:xfrm>
            <a:off x="5625480" y="2348880"/>
            <a:ext cx="425450" cy="427038"/>
          </a:xfrm>
          <a:prstGeom prst="roundRect">
            <a:avLst>
              <a:gd name="adj" fmla="val 333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5" name="AutoShape 5"/>
          <p:cNvSpPr>
            <a:spLocks noChangeArrowheads="1"/>
          </p:cNvSpPr>
          <p:nvPr/>
        </p:nvSpPr>
        <p:spPr bwMode="auto">
          <a:xfrm>
            <a:off x="4772993" y="2348880"/>
            <a:ext cx="425450" cy="427038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6" name="AutoShape 6"/>
          <p:cNvSpPr>
            <a:spLocks noChangeArrowheads="1"/>
          </p:cNvSpPr>
          <p:nvPr/>
        </p:nvSpPr>
        <p:spPr bwMode="auto">
          <a:xfrm>
            <a:off x="6050930" y="2348880"/>
            <a:ext cx="427038" cy="427038"/>
          </a:xfrm>
          <a:prstGeom prst="roundRect">
            <a:avLst>
              <a:gd name="adj" fmla="val 333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lang="tr-TR" altLang="en-US" sz="2100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7" name="AutoShape 9"/>
          <p:cNvSpPr>
            <a:spLocks noChangeArrowheads="1"/>
          </p:cNvSpPr>
          <p:nvPr/>
        </p:nvSpPr>
        <p:spPr bwMode="auto">
          <a:xfrm>
            <a:off x="3491880" y="2348880"/>
            <a:ext cx="427038" cy="427038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8" name="AutoShape 10"/>
          <p:cNvSpPr>
            <a:spLocks noChangeArrowheads="1"/>
          </p:cNvSpPr>
          <p:nvPr/>
        </p:nvSpPr>
        <p:spPr bwMode="auto">
          <a:xfrm>
            <a:off x="2639393" y="2348880"/>
            <a:ext cx="427037" cy="427038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...</a:t>
            </a:r>
            <a:endParaRPr lang="tr-TR" altLang="en-US" sz="2100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AutoShape 11"/>
          <p:cNvSpPr>
            <a:spLocks noChangeArrowheads="1"/>
          </p:cNvSpPr>
          <p:nvPr/>
        </p:nvSpPr>
        <p:spPr bwMode="auto">
          <a:xfrm>
            <a:off x="3066430" y="2348880"/>
            <a:ext cx="425450" cy="427038"/>
          </a:xfrm>
          <a:prstGeom prst="roundRect">
            <a:avLst>
              <a:gd name="adj" fmla="val 333"/>
            </a:avLst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0" name="AutoShape 12"/>
          <p:cNvSpPr>
            <a:spLocks noChangeArrowheads="1"/>
          </p:cNvSpPr>
          <p:nvPr/>
        </p:nvSpPr>
        <p:spPr bwMode="auto">
          <a:xfrm>
            <a:off x="3066430" y="2348880"/>
            <a:ext cx="425450" cy="427038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AutoShape 13"/>
          <p:cNvSpPr>
            <a:spLocks noChangeArrowheads="1"/>
          </p:cNvSpPr>
          <p:nvPr/>
        </p:nvSpPr>
        <p:spPr bwMode="auto">
          <a:xfrm>
            <a:off x="2213943" y="2348880"/>
            <a:ext cx="425450" cy="427038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tr-TR" altLang="en-US" sz="2100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2" name="AutoShape 14"/>
          <p:cNvSpPr>
            <a:spLocks noChangeArrowheads="1"/>
          </p:cNvSpPr>
          <p:nvPr/>
        </p:nvSpPr>
        <p:spPr bwMode="auto">
          <a:xfrm>
            <a:off x="3920505" y="2348880"/>
            <a:ext cx="425450" cy="427038"/>
          </a:xfrm>
          <a:prstGeom prst="roundRect">
            <a:avLst>
              <a:gd name="adj" fmla="val 333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3" name="AutoShape 15"/>
          <p:cNvSpPr>
            <a:spLocks noChangeArrowheads="1"/>
          </p:cNvSpPr>
          <p:nvPr/>
        </p:nvSpPr>
        <p:spPr bwMode="auto">
          <a:xfrm>
            <a:off x="5625480" y="2348880"/>
            <a:ext cx="425450" cy="427038"/>
          </a:xfrm>
          <a:prstGeom prst="roundRect">
            <a:avLst>
              <a:gd name="adj" fmla="val 333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945" tIns="41473" rIns="82945" bIns="41473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tr-TR" altLang="en-US">
              <a:latin typeface="Symbol" panose="05050102010706020507" pitchFamily="18" charset="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058631" y="2354650"/>
            <a:ext cx="13681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Consumer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1138" y="2383503"/>
            <a:ext cx="130487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Producer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1632524" y="2474823"/>
            <a:ext cx="426205" cy="234097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Arrow 110"/>
          <p:cNvSpPr/>
          <p:nvPr/>
        </p:nvSpPr>
        <p:spPr>
          <a:xfrm>
            <a:off x="6603990" y="2477130"/>
            <a:ext cx="426205" cy="234097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707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Problem Revisited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altLang="en-US" sz="145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BUFFER_SIZE = 100; </a:t>
            </a:r>
            <a:r>
              <a:rPr lang="en-GB" altLang="en-US" sz="145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count = 0; 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GB" altLang="en-US" sz="145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producer(void) 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  <a:r>
              <a:rPr lang="en-GB" altLang="en-US" sz="145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item;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(TRUE) {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dirty="0" err="1">
                <a:latin typeface="Consolas" panose="020B0609020204030204" pitchFamily="49" charset="0"/>
                <a:cs typeface="Courier New" panose="02070309020205020404" pitchFamily="49" charset="0"/>
              </a:rPr>
              <a:t>produce_item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(&amp;item);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(count == BUFFER_SIZE)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sleep ();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dirty="0" err="1">
                <a:latin typeface="Consolas" panose="020B0609020204030204" pitchFamily="49" charset="0"/>
                <a:cs typeface="Courier New" panose="02070309020205020404" pitchFamily="49" charset="0"/>
              </a:rPr>
              <a:t>enter_item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(item);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count++;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(count == 1)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wakeup(consumer);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} 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GB" altLang="en-US" sz="145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consumer(void)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{ </a:t>
            </a:r>
            <a:r>
              <a:rPr lang="en-GB" altLang="en-US" sz="145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item;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(TRUE) {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(count == 0)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sleep ();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dirty="0" err="1">
                <a:latin typeface="Consolas" panose="020B0609020204030204" pitchFamily="49" charset="0"/>
                <a:cs typeface="Courier New" panose="02070309020205020404" pitchFamily="49" charset="0"/>
              </a:rPr>
              <a:t>remove_item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(&amp;item);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count--;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b="1" dirty="0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(count == BUFFER_SIZE - 1)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wakeup(producer);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GB" altLang="en-US" sz="1450" dirty="0" err="1">
                <a:latin typeface="Consolas" panose="020B0609020204030204" pitchFamily="49" charset="0"/>
                <a:cs typeface="Courier New" panose="02070309020205020404" pitchFamily="49" charset="0"/>
              </a:rPr>
              <a:t>consume_item</a:t>
            </a: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(&amp;item);</a:t>
            </a:r>
            <a:endParaRPr lang="en-US" altLang="en-US" sz="14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45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en-GB" altLang="en-US" sz="145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58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608" y="2106784"/>
            <a:ext cx="3312368" cy="4670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43608" y="5503195"/>
            <a:ext cx="3312368" cy="4736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43608" y="3116258"/>
            <a:ext cx="3312368" cy="45675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608" y="4553058"/>
            <a:ext cx="3312368" cy="42637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608" y="2636910"/>
            <a:ext cx="3312368" cy="1980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608" y="5044708"/>
            <a:ext cx="3312368" cy="1980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787337" y="2030987"/>
            <a:ext cx="3024336" cy="64633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Producer must wait for consumer to empty buffers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7337" y="2888065"/>
            <a:ext cx="3024336" cy="646331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Consumer must wait for producer to fill buffers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1271" y="3745143"/>
            <a:ext cx="3024336" cy="646331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thread can manipulate buffer queue at a time</a:t>
            </a:r>
          </a:p>
        </p:txBody>
      </p:sp>
      <p:sp>
        <p:nvSpPr>
          <p:cNvPr id="21" name="Oval 20"/>
          <p:cNvSpPr/>
          <p:nvPr/>
        </p:nvSpPr>
        <p:spPr>
          <a:xfrm>
            <a:off x="4173096" y="1934069"/>
            <a:ext cx="365760" cy="36576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5595980" y="1923904"/>
            <a:ext cx="365760" cy="36576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4158723" y="5793989"/>
            <a:ext cx="365760" cy="36576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4171483" y="5020952"/>
            <a:ext cx="365760" cy="3657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5603848" y="3600705"/>
            <a:ext cx="365760" cy="3657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4158723" y="2554816"/>
            <a:ext cx="365760" cy="3657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4171483" y="3176505"/>
            <a:ext cx="365760" cy="3657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Oval 30"/>
          <p:cNvSpPr/>
          <p:nvPr/>
        </p:nvSpPr>
        <p:spPr>
          <a:xfrm>
            <a:off x="4158723" y="4590963"/>
            <a:ext cx="365760" cy="3657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5603848" y="2757459"/>
            <a:ext cx="365760" cy="36576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790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Problem Revisited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Synchronization</a:t>
            </a:r>
            <a:r>
              <a:rPr lang="en-US" dirty="0"/>
              <a:t> between </a:t>
            </a:r>
            <a:r>
              <a:rPr lang="en-US" dirty="0">
                <a:solidFill>
                  <a:srgbClr val="0070C0"/>
                </a:solidFill>
              </a:rPr>
              <a:t>producer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consumer</a:t>
            </a:r>
          </a:p>
          <a:p>
            <a:pPr lvl="1"/>
            <a:r>
              <a:rPr lang="en-US" dirty="0"/>
              <a:t>Use of three separate semaphores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Producer must wait for consumer to empty buffers, if all full</a:t>
            </a:r>
          </a:p>
          <a:p>
            <a:pPr lvl="1"/>
            <a:r>
              <a:rPr lang="en-US" dirty="0"/>
              <a:t>Semaphore </a:t>
            </a:r>
            <a:r>
              <a:rPr lang="en-US" dirty="0">
                <a:solidFill>
                  <a:srgbClr val="0070C0"/>
                </a:solidFill>
              </a:rPr>
              <a:t>empty</a:t>
            </a:r>
            <a:r>
              <a:rPr lang="en-US" dirty="0"/>
              <a:t> initialized to the value N</a:t>
            </a:r>
          </a:p>
          <a:p>
            <a:pPr lvl="1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Consumer must wait for producer to fill buffers, if none full</a:t>
            </a:r>
          </a:p>
          <a:p>
            <a:pPr lvl="1"/>
            <a:r>
              <a:rPr lang="en-US" dirty="0"/>
              <a:t>Semaphore </a:t>
            </a:r>
            <a:r>
              <a:rPr lang="en-US" dirty="0">
                <a:solidFill>
                  <a:srgbClr val="0070C0"/>
                </a:solidFill>
              </a:rPr>
              <a:t>full</a:t>
            </a:r>
            <a:r>
              <a:rPr lang="en-US" dirty="0"/>
              <a:t> initialized to the value 0</a:t>
            </a:r>
          </a:p>
          <a:p>
            <a:pPr lvl="1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Producer/consumer can manipulate buffer queue at a time</a:t>
            </a:r>
          </a:p>
          <a:p>
            <a:pPr lvl="1"/>
            <a:r>
              <a:rPr lang="en-US" dirty="0"/>
              <a:t>Semaphore </a:t>
            </a:r>
            <a:r>
              <a:rPr lang="en-US" dirty="0" err="1">
                <a:solidFill>
                  <a:srgbClr val="0070C0"/>
                </a:solidFill>
              </a:rPr>
              <a:t>mutex</a:t>
            </a:r>
            <a:r>
              <a:rPr lang="en-US" dirty="0"/>
              <a:t> initialized to the value 1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0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Problem Revisited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348880"/>
            <a:ext cx="3744160" cy="403112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</a:rPr>
              <a:t>Producer: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void producer(void) {	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item;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while(TRUE)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produce_item</a:t>
            </a:r>
            <a:r>
              <a:rPr lang="en-US" sz="1800" dirty="0">
                <a:latin typeface="Consolas" panose="020B0609020204030204" pitchFamily="49" charset="0"/>
              </a:rPr>
              <a:t>(&amp;item);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wait (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empty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wait(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enter_item</a:t>
            </a:r>
            <a:r>
              <a:rPr lang="en-US" sz="1800" dirty="0">
                <a:latin typeface="Consolas" panose="020B0609020204030204" pitchFamily="49" charset="0"/>
              </a:rPr>
              <a:t>(item);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signal(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signal(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full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60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643752" y="2348880"/>
            <a:ext cx="3960696" cy="40311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b="1" kern="0" dirty="0">
                <a:solidFill>
                  <a:srgbClr val="0070C0"/>
                </a:solidFill>
                <a:latin typeface="+mj-lt"/>
              </a:rPr>
              <a:t>Consumer: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void consumer(void) { 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</a:t>
            </a:r>
            <a:r>
              <a:rPr lang="en-US" sz="1800" kern="0" dirty="0" err="1">
                <a:latin typeface="Consolas" panose="020B0609020204030204" pitchFamily="49" charset="0"/>
              </a:rPr>
              <a:t>int</a:t>
            </a:r>
            <a:r>
              <a:rPr lang="en-US" sz="1800" kern="0" dirty="0">
                <a:latin typeface="Consolas" panose="020B0609020204030204" pitchFamily="49" charset="0"/>
              </a:rPr>
              <a:t> item;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while(TRUE) {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wait(</a:t>
            </a:r>
            <a:r>
              <a:rPr lang="en-US" sz="1800" kern="0" dirty="0">
                <a:solidFill>
                  <a:srgbClr val="0070C0"/>
                </a:solidFill>
                <a:latin typeface="Consolas" panose="020B0609020204030204" pitchFamily="49" charset="0"/>
              </a:rPr>
              <a:t>full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wait(</a:t>
            </a:r>
            <a:r>
              <a:rPr lang="en-US" sz="1800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kern="0" dirty="0" err="1">
                <a:latin typeface="Consolas" panose="020B0609020204030204" pitchFamily="49" charset="0"/>
              </a:rPr>
              <a:t>remove_item</a:t>
            </a:r>
            <a:r>
              <a:rPr lang="en-US" sz="1800" kern="0" dirty="0">
                <a:latin typeface="Consolas" panose="020B0609020204030204" pitchFamily="49" charset="0"/>
              </a:rPr>
              <a:t>(&amp;item);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signal(</a:t>
            </a:r>
            <a:r>
              <a:rPr lang="en-US" sz="1800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kern="0" dirty="0">
                <a:latin typeface="Consolas" panose="020B0609020204030204" pitchFamily="49" charset="0"/>
              </a:rPr>
              <a:t>);	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signal(</a:t>
            </a:r>
            <a:r>
              <a:rPr lang="en-US" sz="1800" kern="0" dirty="0">
                <a:solidFill>
                  <a:srgbClr val="0070C0"/>
                </a:solidFill>
                <a:latin typeface="Consolas" panose="020B0609020204030204" pitchFamily="49" charset="0"/>
              </a:rPr>
              <a:t>empty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kern="0" dirty="0" err="1">
                <a:latin typeface="Consolas" panose="020B0609020204030204" pitchFamily="49" charset="0"/>
              </a:rPr>
              <a:t>consume_item</a:t>
            </a:r>
            <a:r>
              <a:rPr lang="en-US" sz="1800" kern="0" dirty="0">
                <a:latin typeface="Consolas" panose="020B0609020204030204" pitchFamily="49" charset="0"/>
              </a:rPr>
              <a:t>(&amp;item);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}</a:t>
            </a:r>
          </a:p>
          <a:p>
            <a:endParaRPr lang="en-US" sz="1800" kern="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323850" y="1124744"/>
            <a:ext cx="849630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buFontTx/>
              <a:buChar char="•"/>
            </a:pPr>
            <a:r>
              <a:rPr lang="en-US" kern="0"/>
              <a:t>Semaphore </a:t>
            </a:r>
            <a:r>
              <a:rPr lang="en-US" kern="0">
                <a:solidFill>
                  <a:srgbClr val="0070C0"/>
                </a:solidFill>
              </a:rPr>
              <a:t>empty</a:t>
            </a:r>
            <a:r>
              <a:rPr lang="en-US" kern="0"/>
              <a:t> initialized to the value N</a:t>
            </a:r>
          </a:p>
          <a:p>
            <a:pPr marL="342900" lvl="1" indent="-342900">
              <a:buFontTx/>
              <a:buChar char="•"/>
            </a:pPr>
            <a:r>
              <a:rPr lang="en-US" kern="0"/>
              <a:t>Semaphore </a:t>
            </a:r>
            <a:r>
              <a:rPr lang="en-US" kern="0">
                <a:solidFill>
                  <a:srgbClr val="0070C0"/>
                </a:solidFill>
              </a:rPr>
              <a:t>full</a:t>
            </a:r>
            <a:r>
              <a:rPr lang="en-US" kern="0"/>
              <a:t> initialized to the value 0</a:t>
            </a:r>
          </a:p>
          <a:p>
            <a:pPr marL="342900" lvl="1" indent="-342900">
              <a:buFontTx/>
              <a:buChar char="•"/>
            </a:pPr>
            <a:r>
              <a:rPr lang="en-US" kern="0"/>
              <a:t>Semaphore </a:t>
            </a:r>
            <a:r>
              <a:rPr lang="en-US" kern="0">
                <a:solidFill>
                  <a:srgbClr val="0070C0"/>
                </a:solidFill>
              </a:rPr>
              <a:t>mutex</a:t>
            </a:r>
            <a:r>
              <a:rPr lang="en-US" kern="0"/>
              <a:t> initialized to the value 1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8770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Order of Semaphores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61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11560" y="1124744"/>
            <a:ext cx="3744160" cy="40311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b="1" kern="0" dirty="0">
                <a:solidFill>
                  <a:srgbClr val="0070C0"/>
                </a:solidFill>
                <a:latin typeface="+mj-lt"/>
              </a:rPr>
              <a:t>Producer: 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void producer(void) {	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</a:t>
            </a:r>
            <a:r>
              <a:rPr lang="en-US" sz="1800" kern="0" dirty="0" err="1">
                <a:latin typeface="Consolas" panose="020B0609020204030204" pitchFamily="49" charset="0"/>
              </a:rPr>
              <a:t>int</a:t>
            </a:r>
            <a:r>
              <a:rPr lang="en-US" sz="1800" kern="0" dirty="0">
                <a:latin typeface="Consolas" panose="020B0609020204030204" pitchFamily="49" charset="0"/>
              </a:rPr>
              <a:t> item;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while(TRUE) {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kern="0" dirty="0" err="1">
                <a:latin typeface="Consolas" panose="020B0609020204030204" pitchFamily="49" charset="0"/>
              </a:rPr>
              <a:t>produce_item</a:t>
            </a:r>
            <a:r>
              <a:rPr lang="en-US" sz="1800" kern="0" dirty="0">
                <a:latin typeface="Consolas" panose="020B0609020204030204" pitchFamily="49" charset="0"/>
              </a:rPr>
              <a:t>(&amp;item);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b="1" kern="0" dirty="0">
                <a:latin typeface="Consolas" panose="020B0609020204030204" pitchFamily="49" charset="0"/>
              </a:rPr>
              <a:t>wait (</a:t>
            </a:r>
            <a:r>
              <a:rPr lang="en-US" sz="1800" b="1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b="1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b="1" kern="0" dirty="0">
                <a:latin typeface="Consolas" panose="020B0609020204030204" pitchFamily="49" charset="0"/>
              </a:rPr>
              <a:t>wait(</a:t>
            </a:r>
            <a:r>
              <a:rPr lang="en-US" sz="18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empty</a:t>
            </a:r>
            <a:r>
              <a:rPr lang="en-US" sz="1800" b="1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kern="0" dirty="0" err="1">
                <a:latin typeface="Consolas" panose="020B0609020204030204" pitchFamily="49" charset="0"/>
              </a:rPr>
              <a:t>enter_item</a:t>
            </a:r>
            <a:r>
              <a:rPr lang="en-US" sz="1800" kern="0" dirty="0">
                <a:latin typeface="Consolas" panose="020B0609020204030204" pitchFamily="49" charset="0"/>
              </a:rPr>
              <a:t>(item);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signal(</a:t>
            </a:r>
            <a:r>
              <a:rPr lang="en-US" sz="1800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signal(</a:t>
            </a:r>
            <a:r>
              <a:rPr lang="en-US" sz="1800" kern="0" dirty="0">
                <a:solidFill>
                  <a:srgbClr val="0070C0"/>
                </a:solidFill>
                <a:latin typeface="Consolas" panose="020B0609020204030204" pitchFamily="49" charset="0"/>
              </a:rPr>
              <a:t>full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} 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643752" y="1124744"/>
            <a:ext cx="3960696" cy="40311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b="1" kern="0" dirty="0">
                <a:solidFill>
                  <a:srgbClr val="0070C0"/>
                </a:solidFill>
                <a:latin typeface="+mj-lt"/>
              </a:rPr>
              <a:t>Consumer: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void consumer(void) { 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</a:t>
            </a:r>
            <a:r>
              <a:rPr lang="en-US" sz="1800" kern="0" dirty="0" err="1">
                <a:latin typeface="Consolas" panose="020B0609020204030204" pitchFamily="49" charset="0"/>
              </a:rPr>
              <a:t>int</a:t>
            </a:r>
            <a:r>
              <a:rPr lang="en-US" sz="1800" kern="0" dirty="0">
                <a:latin typeface="Consolas" panose="020B0609020204030204" pitchFamily="49" charset="0"/>
              </a:rPr>
              <a:t> item;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while(TRUE) {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wait(</a:t>
            </a:r>
            <a:r>
              <a:rPr lang="en-US" sz="1800" kern="0" dirty="0">
                <a:solidFill>
                  <a:srgbClr val="0070C0"/>
                </a:solidFill>
                <a:latin typeface="Consolas" panose="020B0609020204030204" pitchFamily="49" charset="0"/>
              </a:rPr>
              <a:t>full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wait(</a:t>
            </a:r>
            <a:r>
              <a:rPr lang="en-US" sz="1800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kern="0" dirty="0" err="1">
                <a:latin typeface="Consolas" panose="020B0609020204030204" pitchFamily="49" charset="0"/>
              </a:rPr>
              <a:t>remove_item</a:t>
            </a:r>
            <a:r>
              <a:rPr lang="en-US" sz="1800" kern="0" dirty="0">
                <a:latin typeface="Consolas" panose="020B0609020204030204" pitchFamily="49" charset="0"/>
              </a:rPr>
              <a:t>(&amp;item);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signal(</a:t>
            </a:r>
            <a:r>
              <a:rPr lang="en-US" sz="1800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mutex</a:t>
            </a:r>
            <a:r>
              <a:rPr lang="en-US" sz="1800" kern="0" dirty="0">
                <a:latin typeface="Consolas" panose="020B0609020204030204" pitchFamily="49" charset="0"/>
              </a:rPr>
              <a:t>);	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signal(</a:t>
            </a:r>
            <a:r>
              <a:rPr lang="en-US" sz="1800" kern="0" dirty="0">
                <a:solidFill>
                  <a:srgbClr val="0070C0"/>
                </a:solidFill>
                <a:latin typeface="Consolas" panose="020B0609020204030204" pitchFamily="49" charset="0"/>
              </a:rPr>
              <a:t>empty</a:t>
            </a:r>
            <a:r>
              <a:rPr lang="en-US" sz="18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kern="0" dirty="0" err="1">
                <a:latin typeface="Consolas" panose="020B0609020204030204" pitchFamily="49" charset="0"/>
              </a:rPr>
              <a:t>consume_item</a:t>
            </a:r>
            <a:r>
              <a:rPr lang="en-US" sz="1800" kern="0" dirty="0">
                <a:latin typeface="Consolas" panose="020B0609020204030204" pitchFamily="49" charset="0"/>
              </a:rPr>
              <a:t>(&amp;item);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}</a:t>
            </a:r>
          </a:p>
          <a:p>
            <a:endParaRPr lang="en-US" sz="1800" kern="0" dirty="0">
              <a:latin typeface="Consolas" panose="020B0609020204030204" pitchFamily="49" charset="0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467544" y="3284984"/>
            <a:ext cx="990600" cy="0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533390" y="2972242"/>
            <a:ext cx="990600" cy="0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b="1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3390900" y="5491788"/>
            <a:ext cx="2362200" cy="554038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6000"/>
              </a:lnSpc>
              <a:spcBef>
                <a:spcPct val="50000"/>
              </a:spcBef>
            </a:pPr>
            <a:r>
              <a:rPr lang="en-US" altLang="en-US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271213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Dining Philosophers Problem [E.W. </a:t>
            </a:r>
            <a:r>
              <a:rPr lang="en-US" dirty="0" err="1"/>
              <a:t>Dijkstra</a:t>
            </a:r>
            <a:r>
              <a:rPr lang="en-US" dirty="0"/>
              <a:t>, 1965]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5256262" cy="5112568"/>
          </a:xfrm>
        </p:spPr>
        <p:txBody>
          <a:bodyPr/>
          <a:lstStyle/>
          <a:p>
            <a:r>
              <a:rPr lang="en-US" dirty="0"/>
              <a:t>Simplest form of the resource allocation problem</a:t>
            </a:r>
          </a:p>
          <a:p>
            <a:pPr lvl="3"/>
            <a:endParaRPr lang="en-US" dirty="0"/>
          </a:p>
          <a:p>
            <a:r>
              <a:rPr lang="en-US" b="1" dirty="0"/>
              <a:t>Intuition: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Philosophers</a:t>
            </a:r>
            <a:r>
              <a:rPr lang="en-US" dirty="0"/>
              <a:t> ~ Processes which aim to execute code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Food</a:t>
            </a:r>
            <a:r>
              <a:rPr lang="en-US" dirty="0"/>
              <a:t> ~ code which requires  exclusive access to resources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Forks</a:t>
            </a:r>
            <a:r>
              <a:rPr lang="en-US" dirty="0"/>
              <a:t> ~ conflicts on shared resources </a:t>
            </a:r>
          </a:p>
          <a:p>
            <a:r>
              <a:rPr lang="en-US" b="1" dirty="0"/>
              <a:t>Hungry</a:t>
            </a:r>
            <a:r>
              <a:rPr lang="en-US" dirty="0"/>
              <a:t> philosophers </a:t>
            </a:r>
          </a:p>
          <a:p>
            <a:pPr lvl="1"/>
            <a:r>
              <a:rPr lang="en-US" dirty="0"/>
              <a:t>Try to </a:t>
            </a:r>
            <a:r>
              <a:rPr lang="en-US" dirty="0">
                <a:solidFill>
                  <a:srgbClr val="0070C0"/>
                </a:solidFill>
              </a:rPr>
              <a:t>exclusively acquire </a:t>
            </a:r>
            <a:r>
              <a:rPr lang="en-US" dirty="0"/>
              <a:t>forks shared with neighbors</a:t>
            </a:r>
          </a:p>
          <a:p>
            <a:r>
              <a:rPr lang="en-US" b="1" dirty="0"/>
              <a:t>Eat</a:t>
            </a:r>
            <a:r>
              <a:rPr lang="en-US" dirty="0"/>
              <a:t> after they have </a:t>
            </a:r>
            <a:r>
              <a:rPr lang="en-US" dirty="0" err="1"/>
              <a:t>aquired</a:t>
            </a:r>
            <a:r>
              <a:rPr lang="en-US" dirty="0"/>
              <a:t> both forks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Release</a:t>
            </a:r>
            <a:r>
              <a:rPr lang="en-US" dirty="0"/>
              <a:t> forks after eating</a:t>
            </a:r>
          </a:p>
          <a:p>
            <a:r>
              <a:rPr lang="en-US" b="1" dirty="0"/>
              <a:t>Think </a:t>
            </a:r>
            <a:r>
              <a:rPr lang="en-US" dirty="0"/>
              <a:t>if not interested to eat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62</a:t>
            </a:fld>
            <a:endParaRPr lang="en-GB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1268760"/>
            <a:ext cx="3784032" cy="41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551896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Dining Philosophers Problem: States and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36815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Goal</a:t>
            </a:r>
          </a:p>
          <a:p>
            <a:r>
              <a:rPr lang="en-US" dirty="0"/>
              <a:t>No deadlocks </a:t>
            </a:r>
          </a:p>
          <a:p>
            <a:r>
              <a:rPr lang="en-US" dirty="0"/>
              <a:t>Hungry philosophers will eventually be able to eat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63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auto">
          <a:xfrm>
            <a:off x="1911970" y="3358823"/>
            <a:ext cx="1676400" cy="40229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buNone/>
            </a:pPr>
            <a:r>
              <a:rPr lang="en-US" sz="2000" dirty="0"/>
              <a:t>Think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5036170" y="3358823"/>
            <a:ext cx="1676400" cy="40229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buNone/>
            </a:pPr>
            <a:r>
              <a:rPr lang="en-US" sz="2000" dirty="0"/>
              <a:t>Hungry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588370" y="4654223"/>
            <a:ext cx="1676400" cy="40229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buNone/>
            </a:pPr>
            <a:r>
              <a:rPr lang="en-US" sz="2000" dirty="0"/>
              <a:t>Eat</a:t>
            </a:r>
          </a:p>
        </p:txBody>
      </p:sp>
      <p:cxnSp>
        <p:nvCxnSpPr>
          <p:cNvPr id="9" name="Straight Arrow Connector 10"/>
          <p:cNvCxnSpPr>
            <a:stCxn id="6" idx="3"/>
            <a:endCxn id="7" idx="1"/>
          </p:cNvCxnSpPr>
          <p:nvPr/>
        </p:nvCxnSpPr>
        <p:spPr bwMode="auto">
          <a:xfrm>
            <a:off x="3588370" y="3559969"/>
            <a:ext cx="14478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1"/>
          <p:cNvCxnSpPr>
            <a:stCxn id="7" idx="2"/>
          </p:cNvCxnSpPr>
          <p:nvPr/>
        </p:nvCxnSpPr>
        <p:spPr bwMode="auto">
          <a:xfrm rot="5400000">
            <a:off x="4970615" y="3750469"/>
            <a:ext cx="893111" cy="9144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4"/>
          <p:cNvCxnSpPr>
            <a:endCxn id="6" idx="2"/>
          </p:cNvCxnSpPr>
          <p:nvPr/>
        </p:nvCxnSpPr>
        <p:spPr bwMode="auto">
          <a:xfrm rot="10800000">
            <a:off x="2750170" y="3761115"/>
            <a:ext cx="1219202" cy="89310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feld 13"/>
          <p:cNvSpPr txBox="1"/>
          <p:nvPr/>
        </p:nvSpPr>
        <p:spPr>
          <a:xfrm>
            <a:off x="2816302" y="5283170"/>
            <a:ext cx="326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States of a philosopher</a:t>
            </a:r>
          </a:p>
        </p:txBody>
      </p:sp>
    </p:spTree>
    <p:extLst>
      <p:ext uri="{BB962C8B-B14F-4D97-AF65-F5344CB8AC3E}">
        <p14:creationId xmlns:p14="http://schemas.microsoft.com/office/powerpoint/2010/main" val="19939350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Dining Philosophers Problem Using 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each fork with a semaphore</a:t>
            </a:r>
          </a:p>
          <a:p>
            <a:pPr lvl="1"/>
            <a:r>
              <a:rPr lang="en-US" dirty="0"/>
              <a:t>Semaphore </a:t>
            </a:r>
            <a:r>
              <a:rPr lang="en-US" dirty="0">
                <a:latin typeface="Consolas" panose="020B0609020204030204" pitchFamily="49" charset="0"/>
              </a:rPr>
              <a:t>fork[5] </a:t>
            </a:r>
            <a:r>
              <a:rPr lang="en-US" dirty="0"/>
              <a:t>initialized to 1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Solution guarantees that no two neighbors eat simultaneously</a:t>
            </a:r>
          </a:p>
          <a:p>
            <a:pPr lvl="1"/>
            <a:r>
              <a:rPr lang="en-US" dirty="0"/>
              <a:t>Deadlock can be occur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64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231901" y="2132856"/>
            <a:ext cx="4680198" cy="30963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b="1" kern="0" dirty="0">
                <a:latin typeface="+mj-lt"/>
              </a:rPr>
              <a:t>Structure of Philosopher </a:t>
            </a:r>
            <a:r>
              <a:rPr lang="en-US" sz="1800" b="1" kern="0" dirty="0" err="1">
                <a:latin typeface="+mj-lt"/>
              </a:rPr>
              <a:t>i</a:t>
            </a:r>
            <a:endParaRPr lang="en-US" sz="1800" b="1" kern="0" dirty="0">
              <a:latin typeface="+mj-lt"/>
            </a:endParaRPr>
          </a:p>
          <a:p>
            <a:pPr marL="0" indent="0">
              <a:buFontTx/>
              <a:buNone/>
            </a:pPr>
            <a:r>
              <a:rPr lang="en-US" sz="1800" b="1" kern="0" dirty="0">
                <a:latin typeface="Consolas" panose="020B0609020204030204" pitchFamily="49" charset="0"/>
              </a:rPr>
              <a:t>do</a:t>
            </a:r>
            <a:r>
              <a:rPr lang="en-US" sz="1800" kern="0" dirty="0">
                <a:latin typeface="Consolas" panose="020B0609020204030204" pitchFamily="49" charset="0"/>
              </a:rPr>
              <a:t>  { 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wait ( fork[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] 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wait ( fork[ (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 + 1) % 5] 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</a:t>
            </a:r>
            <a:r>
              <a:rPr lang="en-US" sz="18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//  eat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signal ( fork[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] 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signal (fork[ (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 + 1) % 5] );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    </a:t>
            </a:r>
            <a:r>
              <a:rPr lang="en-US" sz="18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//  think</a:t>
            </a:r>
          </a:p>
          <a:p>
            <a:pPr marL="0" indent="0">
              <a:buFontTx/>
              <a:buNone/>
            </a:pPr>
            <a:r>
              <a:rPr lang="en-US" sz="1800" kern="0" dirty="0">
                <a:latin typeface="Consolas" panose="020B0609020204030204" pitchFamily="49" charset="0"/>
              </a:rPr>
              <a:t>} </a:t>
            </a:r>
            <a:r>
              <a:rPr lang="en-US" sz="1800" b="1" kern="0" dirty="0">
                <a:latin typeface="Consolas" panose="020B0609020204030204" pitchFamily="49" charset="0"/>
              </a:rPr>
              <a:t>while</a:t>
            </a:r>
            <a:r>
              <a:rPr lang="en-US" sz="1800" kern="0" dirty="0">
                <a:latin typeface="Consolas" panose="020B0609020204030204" pitchFamily="49" charset="0"/>
              </a:rPr>
              <a:t> (TRUE);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18334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Semaphores</a:t>
            </a:r>
            <a:r>
              <a:rPr lang="en-US" dirty="0"/>
              <a:t> can be used to solve any of </a:t>
            </a:r>
            <a:r>
              <a:rPr lang="en-US" dirty="0">
                <a:solidFill>
                  <a:srgbClr val="0070C0"/>
                </a:solidFill>
              </a:rPr>
              <a:t>traditional synchronization problems</a:t>
            </a:r>
          </a:p>
          <a:p>
            <a:pPr lvl="3"/>
            <a:endParaRPr lang="en-US" dirty="0"/>
          </a:p>
          <a:p>
            <a:r>
              <a:rPr lang="en-US" dirty="0"/>
              <a:t>Semaphore have some </a:t>
            </a:r>
            <a:r>
              <a:rPr lang="en-US" b="1" dirty="0"/>
              <a:t>drawbacks</a:t>
            </a:r>
          </a:p>
          <a:p>
            <a:pPr lvl="1"/>
            <a:r>
              <a:rPr lang="en-US" dirty="0"/>
              <a:t>They are essentially shared global variables</a:t>
            </a:r>
          </a:p>
          <a:p>
            <a:pPr lvl="2"/>
            <a:r>
              <a:rPr lang="en-US" dirty="0"/>
              <a:t>Can potentially be accessed anywhere in program</a:t>
            </a:r>
          </a:p>
          <a:p>
            <a:pPr lvl="1"/>
            <a:r>
              <a:rPr lang="en-US" dirty="0"/>
              <a:t>No connection between the semaphore and the data being controlled by the semaphore</a:t>
            </a:r>
          </a:p>
          <a:p>
            <a:pPr lvl="1"/>
            <a:r>
              <a:rPr lang="en-US" dirty="0"/>
              <a:t>Used both for </a:t>
            </a:r>
            <a:r>
              <a:rPr lang="en-US" dirty="0">
                <a:solidFill>
                  <a:srgbClr val="0070C0"/>
                </a:solidFill>
              </a:rPr>
              <a:t>critical sections </a:t>
            </a:r>
            <a:r>
              <a:rPr lang="en-US" dirty="0"/>
              <a:t>(mutual exclusion) and </a:t>
            </a:r>
            <a:r>
              <a:rPr lang="en-US" dirty="0">
                <a:solidFill>
                  <a:srgbClr val="0070C0"/>
                </a:solidFill>
              </a:rPr>
              <a:t>coordination </a:t>
            </a:r>
            <a:r>
              <a:rPr lang="en-US" dirty="0"/>
              <a:t>(scheduling)</a:t>
            </a:r>
          </a:p>
          <a:p>
            <a:pPr lvl="1"/>
            <a:r>
              <a:rPr lang="en-US" dirty="0"/>
              <a:t>No control or guarantee of proper usage</a:t>
            </a:r>
          </a:p>
          <a:p>
            <a:pPr lvl="3"/>
            <a:endParaRPr lang="en-US" dirty="0"/>
          </a:p>
          <a:p>
            <a:r>
              <a:rPr lang="en-US" dirty="0"/>
              <a:t>Sometimes hard to use and prone to bugs</a:t>
            </a:r>
          </a:p>
          <a:p>
            <a:pPr lvl="1"/>
            <a:r>
              <a:rPr lang="en-US" dirty="0"/>
              <a:t>Another approach: Use programming language support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9309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4808870" cy="511256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Goal: </a:t>
            </a:r>
            <a:r>
              <a:rPr lang="en-US" dirty="0"/>
              <a:t>Avoid problems of managing multiple semaphores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Monitor</a:t>
            </a:r>
            <a:r>
              <a:rPr lang="en-US" dirty="0"/>
              <a:t> is a programming language construct (not OS) </a:t>
            </a:r>
          </a:p>
          <a:p>
            <a:r>
              <a:rPr lang="en-US" dirty="0"/>
              <a:t>Controls access to shared data</a:t>
            </a:r>
          </a:p>
          <a:p>
            <a:r>
              <a:rPr lang="en-US" dirty="0"/>
              <a:t>Synchronization code added by compiler, enforced at runtime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66</a:t>
            </a:fld>
            <a:endParaRPr lang="en-GB"/>
          </a:p>
        </p:txBody>
      </p:sp>
      <p:grpSp>
        <p:nvGrpSpPr>
          <p:cNvPr id="8" name="Group 7"/>
          <p:cNvGrpSpPr/>
          <p:nvPr/>
        </p:nvGrpSpPr>
        <p:grpSpPr>
          <a:xfrm>
            <a:off x="5146963" y="1178410"/>
            <a:ext cx="3653973" cy="5058902"/>
            <a:chOff x="4446419" y="1412875"/>
            <a:chExt cx="3653973" cy="5058902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4446419" y="1433866"/>
              <a:ext cx="3653973" cy="503791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7" name="Rectangle 4"/>
            <p:cNvSpPr txBox="1">
              <a:spLocks noChangeArrowheads="1"/>
            </p:cNvSpPr>
            <p:nvPr/>
          </p:nvSpPr>
          <p:spPr>
            <a:xfrm>
              <a:off x="4648200" y="1412875"/>
              <a:ext cx="3236168" cy="4713288"/>
            </a:xfrm>
            <a:prstGeom prst="rect">
              <a:avLst/>
            </a:prstGeom>
          </p:spPr>
          <p:txBody>
            <a:bodyPr/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ahoma" pitchFamily="34" charset="0"/>
                <a:buChar char="–"/>
                <a:defRPr sz="19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Ø"/>
                <a:defRPr sz="17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Tahoma" pitchFamily="34" charset="0"/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5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FontTx/>
                <a:buNone/>
              </a:pP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monitor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name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{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// shared variable 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</a:t>
              </a: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procedure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P1 ( … ) {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…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}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…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</a:t>
              </a: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procedure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PN (…){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…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}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  </a:t>
              </a: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initialization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(…) { 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  … 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}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6938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4808870" cy="51125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monitor guarantees </a:t>
            </a:r>
            <a:r>
              <a:rPr lang="en-US" dirty="0">
                <a:solidFill>
                  <a:srgbClr val="0070C0"/>
                </a:solidFill>
              </a:rPr>
              <a:t>mutual exclusion</a:t>
            </a:r>
          </a:p>
          <a:p>
            <a:r>
              <a:rPr lang="en-US" dirty="0"/>
              <a:t>Only </a:t>
            </a:r>
            <a:r>
              <a:rPr lang="en-US" dirty="0">
                <a:solidFill>
                  <a:srgbClr val="0070C0"/>
                </a:solidFill>
              </a:rPr>
              <a:t>one thread</a:t>
            </a:r>
            <a:r>
              <a:rPr lang="en-US" dirty="0"/>
              <a:t> can </a:t>
            </a:r>
            <a:r>
              <a:rPr lang="en-US" dirty="0">
                <a:solidFill>
                  <a:srgbClr val="0070C0"/>
                </a:solidFill>
              </a:rPr>
              <a:t>execute</a:t>
            </a:r>
            <a:r>
              <a:rPr lang="en-US" dirty="0"/>
              <a:t> any monitor </a:t>
            </a:r>
            <a:r>
              <a:rPr lang="en-US" dirty="0">
                <a:solidFill>
                  <a:srgbClr val="0070C0"/>
                </a:solidFill>
              </a:rPr>
              <a:t>procedure at any time </a:t>
            </a:r>
          </a:p>
          <a:p>
            <a:pPr lvl="1"/>
            <a:r>
              <a:rPr lang="en-US" dirty="0"/>
              <a:t>The thread is “in the monitor”</a:t>
            </a:r>
          </a:p>
          <a:p>
            <a:r>
              <a:rPr lang="en-US" dirty="0"/>
              <a:t>If a </a:t>
            </a:r>
            <a:r>
              <a:rPr lang="en-US" dirty="0">
                <a:solidFill>
                  <a:srgbClr val="0070C0"/>
                </a:solidFill>
              </a:rPr>
              <a:t>second thread invokes </a:t>
            </a:r>
            <a:r>
              <a:rPr lang="en-US" dirty="0"/>
              <a:t>a monitor </a:t>
            </a:r>
            <a:r>
              <a:rPr lang="en-US" dirty="0">
                <a:solidFill>
                  <a:srgbClr val="0070C0"/>
                </a:solidFill>
              </a:rPr>
              <a:t>procedure</a:t>
            </a:r>
            <a:r>
              <a:rPr lang="en-US" dirty="0"/>
              <a:t> when a </a:t>
            </a:r>
            <a:r>
              <a:rPr lang="en-US" dirty="0">
                <a:solidFill>
                  <a:srgbClr val="0070C0"/>
                </a:solidFill>
              </a:rPr>
              <a:t>first thread</a:t>
            </a:r>
            <a:r>
              <a:rPr lang="en-US" dirty="0"/>
              <a:t> is already executing one, it </a:t>
            </a:r>
            <a:r>
              <a:rPr lang="en-US" dirty="0">
                <a:solidFill>
                  <a:srgbClr val="0070C0"/>
                </a:solidFill>
              </a:rPr>
              <a:t>blocks</a:t>
            </a:r>
          </a:p>
          <a:p>
            <a:pPr lvl="1"/>
            <a:r>
              <a:rPr lang="en-US" dirty="0"/>
              <a:t>So the monitor has to have a </a:t>
            </a:r>
            <a:r>
              <a:rPr lang="en-US" dirty="0">
                <a:solidFill>
                  <a:srgbClr val="0070C0"/>
                </a:solidFill>
              </a:rPr>
              <a:t>wait queue</a:t>
            </a:r>
            <a:r>
              <a:rPr lang="en-US" dirty="0"/>
              <a:t>…</a:t>
            </a:r>
          </a:p>
          <a:p>
            <a:r>
              <a:rPr lang="en-US" dirty="0"/>
              <a:t>If a thread within a monitor blocks, another one can enter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67</a:t>
            </a:fld>
            <a:endParaRPr lang="en-GB"/>
          </a:p>
        </p:txBody>
      </p:sp>
      <p:grpSp>
        <p:nvGrpSpPr>
          <p:cNvPr id="9" name="Group 8"/>
          <p:cNvGrpSpPr/>
          <p:nvPr/>
        </p:nvGrpSpPr>
        <p:grpSpPr>
          <a:xfrm>
            <a:off x="5146963" y="1178410"/>
            <a:ext cx="3653973" cy="5058902"/>
            <a:chOff x="4446419" y="1412875"/>
            <a:chExt cx="3653973" cy="5058902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446419" y="1433866"/>
              <a:ext cx="3653973" cy="503791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Rectangle 4"/>
            <p:cNvSpPr txBox="1">
              <a:spLocks noChangeArrowheads="1"/>
            </p:cNvSpPr>
            <p:nvPr/>
          </p:nvSpPr>
          <p:spPr>
            <a:xfrm>
              <a:off x="4648200" y="1412875"/>
              <a:ext cx="3236168" cy="4713288"/>
            </a:xfrm>
            <a:prstGeom prst="rect">
              <a:avLst/>
            </a:prstGeom>
          </p:spPr>
          <p:txBody>
            <a:bodyPr/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ahoma" pitchFamily="34" charset="0"/>
                <a:buChar char="–"/>
                <a:defRPr sz="19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Ø"/>
                <a:defRPr sz="17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Tahoma" pitchFamily="34" charset="0"/>
                <a:buChar char="»"/>
                <a:defRPr sz="16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5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v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FontTx/>
                <a:buNone/>
              </a:pP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monitor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name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{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// shared variable 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</a:t>
              </a: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procedure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P1 ( … ) {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…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}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…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</a:t>
              </a: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procedure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PN (…){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…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}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  </a:t>
              </a:r>
              <a:r>
                <a:rPr lang="en-GB" sz="1600" b="1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initialization</a:t>
              </a: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(…) { 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   … 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	}</a:t>
              </a:r>
            </a:p>
            <a:p>
              <a:pPr>
                <a:buFontTx/>
                <a:buNone/>
              </a:pPr>
              <a:r>
                <a:rPr lang="en-GB" sz="1800" kern="0" dirty="0">
                  <a:latin typeface="Consolas" panose="020B06090202040302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574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68</a:t>
            </a:fld>
            <a:endParaRPr lang="en-GB"/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1819079" y="1701415"/>
            <a:ext cx="5976937" cy="3959225"/>
            <a:chOff x="703" y="1117"/>
            <a:chExt cx="3765" cy="2494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703" y="1117"/>
              <a:ext cx="1452" cy="231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de-DE" b="0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703" y="1117"/>
              <a:ext cx="1451" cy="4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03" y="3022"/>
              <a:ext cx="1451" cy="5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b="0"/>
                <a:t>Initialization Code</a:t>
              </a:r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2472" y="1162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b="0"/>
                <a:t>P</a:t>
              </a:r>
              <a:r>
                <a:rPr lang="en-GB" b="0" baseline="-25000"/>
                <a:t>i</a:t>
              </a: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3016" y="1162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b="0"/>
                <a:t>P</a:t>
              </a:r>
              <a:r>
                <a:rPr lang="en-GB" b="0" baseline="-25000"/>
                <a:t>j</a:t>
              </a: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3560" y="1162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b="0"/>
                <a:t>P</a:t>
              </a:r>
              <a:r>
                <a:rPr lang="en-GB" b="0" baseline="-25000"/>
                <a:t>k</a:t>
              </a: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150" y="1162"/>
              <a:ext cx="318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b="0"/>
                <a:t>P</a:t>
              </a:r>
              <a:r>
                <a:rPr lang="en-GB" b="0" baseline="-25000"/>
                <a:t>l</a:t>
              </a:r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 flipH="1">
              <a:off x="3878" y="134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>
              <a:off x="3288" y="134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 flipH="1">
              <a:off x="2744" y="134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H="1">
              <a:off x="2154" y="134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930" y="1253"/>
              <a:ext cx="99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b="0"/>
                <a:t>shared data</a:t>
              </a: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839" y="1797"/>
              <a:ext cx="227" cy="72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23"/>
            <p:cNvSpPr>
              <a:spLocks noChangeArrowheads="1"/>
            </p:cNvSpPr>
            <p:nvPr/>
          </p:nvSpPr>
          <p:spPr bwMode="auto">
            <a:xfrm>
              <a:off x="1156" y="1797"/>
              <a:ext cx="227" cy="72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24"/>
            <p:cNvSpPr>
              <a:spLocks noChangeArrowheads="1"/>
            </p:cNvSpPr>
            <p:nvPr/>
          </p:nvSpPr>
          <p:spPr bwMode="auto">
            <a:xfrm>
              <a:off x="1837" y="1797"/>
              <a:ext cx="227" cy="72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Text Box 26"/>
            <p:cNvSpPr txBox="1">
              <a:spLocks noChangeArrowheads="1"/>
            </p:cNvSpPr>
            <p:nvPr/>
          </p:nvSpPr>
          <p:spPr bwMode="auto">
            <a:xfrm>
              <a:off x="1429" y="2024"/>
              <a:ext cx="40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b="0"/>
                <a:t>…</a:t>
              </a:r>
            </a:p>
          </p:txBody>
        </p:sp>
        <p:sp>
          <p:nvSpPr>
            <p:cNvPr id="23" name="Text Box 27"/>
            <p:cNvSpPr txBox="1">
              <a:spLocks noChangeArrowheads="1"/>
            </p:cNvSpPr>
            <p:nvPr/>
          </p:nvSpPr>
          <p:spPr bwMode="auto">
            <a:xfrm>
              <a:off x="1066" y="2659"/>
              <a:ext cx="8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0"/>
                <a:t>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6318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monitor has four components</a:t>
            </a:r>
          </a:p>
          <a:p>
            <a:pPr lvl="1"/>
            <a:r>
              <a:rPr lang="en-US" dirty="0"/>
              <a:t>Initialization</a:t>
            </a:r>
          </a:p>
          <a:p>
            <a:pPr lvl="1"/>
            <a:r>
              <a:rPr lang="en-US" dirty="0"/>
              <a:t>Share (private) data </a:t>
            </a:r>
          </a:p>
          <a:p>
            <a:pPr lvl="1"/>
            <a:r>
              <a:rPr lang="en-US" dirty="0"/>
              <a:t>Monitor procedures </a:t>
            </a:r>
          </a:p>
          <a:p>
            <a:pPr lvl="1"/>
            <a:r>
              <a:rPr lang="en-US" dirty="0"/>
              <a:t>Monitor entry queue</a:t>
            </a:r>
          </a:p>
          <a:p>
            <a:endParaRPr lang="en-US" dirty="0"/>
          </a:p>
          <a:p>
            <a:r>
              <a:rPr lang="en-US" dirty="0"/>
              <a:t>A monitor looks like a class with </a:t>
            </a:r>
          </a:p>
          <a:p>
            <a:pPr lvl="1"/>
            <a:r>
              <a:rPr lang="en-US" dirty="0"/>
              <a:t>Constructors, private data and methods </a:t>
            </a:r>
          </a:p>
          <a:p>
            <a:pPr lvl="1"/>
            <a:r>
              <a:rPr lang="en-US" dirty="0"/>
              <a:t>Only major difference is that classes do not have entry queues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3180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Exclusion With a Monitor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70</a:t>
            </a:fld>
            <a:endParaRPr lang="en-GB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14563" y="1692275"/>
            <a:ext cx="4437062" cy="3648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57424" y="1708150"/>
            <a:ext cx="4403725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GB" sz="2000" b="1" kern="0">
                <a:latin typeface="Consolas" panose="020B0609020204030204" pitchFamily="49" charset="0"/>
                <a:cs typeface="Courier New" panose="02070309020205020404" pitchFamily="49" charset="0"/>
              </a:rPr>
              <a:t>monitor</a:t>
            </a: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 mutual_exclusion{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GB" sz="2000" b="1" kern="0">
                <a:latin typeface="Consolas" panose="020B0609020204030204" pitchFamily="49" charset="0"/>
                <a:cs typeface="Courier New" panose="02070309020205020404" pitchFamily="49" charset="0"/>
              </a:rPr>
              <a:t>procedure</a:t>
            </a: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 CS();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    	</a:t>
            </a:r>
            <a:r>
              <a:rPr lang="en-GB" sz="2000" b="1" kern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Critical Section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GB" sz="2000" b="1" kern="0">
                <a:latin typeface="Consolas" panose="020B0609020204030204" pitchFamily="49" charset="0"/>
                <a:cs typeface="Courier New" panose="02070309020205020404" pitchFamily="49" charset="0"/>
              </a:rPr>
              <a:t>end</a:t>
            </a: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sz="2000" kern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Process </a:t>
            </a:r>
            <a:r>
              <a:rPr lang="en-GB" sz="2000" b="1" kern="0">
                <a:latin typeface="Consolas" panose="020B0609020204030204" pitchFamily="49" charset="0"/>
                <a:cs typeface="Courier New" panose="02070309020205020404" pitchFamily="49" charset="0"/>
              </a:rPr>
              <a:t>P</a:t>
            </a:r>
            <a:r>
              <a:rPr lang="en-GB" sz="2000" b="1" kern="0" baseline="-25000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1: </a:t>
            </a:r>
            <a:r>
              <a:rPr lang="en-GB" sz="2000" b="1" kern="0">
                <a:latin typeface="Consolas" panose="020B06090202040302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2:		CS();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3:    </a:t>
            </a:r>
            <a:r>
              <a:rPr lang="en-GB" sz="2000" b="1" kern="0">
                <a:solidFill>
                  <a:srgbClr val="0033CC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Remainder Section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4: </a:t>
            </a:r>
            <a:r>
              <a:rPr lang="en-GB" sz="2000" b="1" kern="0">
                <a:latin typeface="Consolas" panose="020B0609020204030204" pitchFamily="49" charset="0"/>
                <a:cs typeface="Courier New" panose="02070309020205020404" pitchFamily="49" charset="0"/>
              </a:rPr>
              <a:t>UNTIL </a:t>
            </a:r>
            <a:r>
              <a:rPr lang="en-GB" sz="2000" kern="0">
                <a:latin typeface="Consolas" panose="020B0609020204030204" pitchFamily="49" charset="0"/>
                <a:cs typeface="Courier New" panose="02070309020205020404" pitchFamily="49" charset="0"/>
              </a:rPr>
              <a:t>false;</a:t>
            </a:r>
            <a:endParaRPr lang="en-GB" sz="2000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1845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993" y="1412776"/>
            <a:ext cx="4608190" cy="237626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Monitor account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double balance;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double withdraw(amount)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balance = balance – amount;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return balance;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71</a:t>
            </a:fld>
            <a:endParaRPr lang="en-GB"/>
          </a:p>
        </p:txBody>
      </p:sp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7308652" y="2041893"/>
            <a:ext cx="504825" cy="504825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 dirty="0"/>
              <a:t>T</a:t>
            </a:r>
            <a:r>
              <a:rPr lang="en-GB" b="0" baseline="-25000" dirty="0"/>
              <a:t>l</a:t>
            </a:r>
          </a:p>
        </p:txBody>
      </p:sp>
      <p:sp>
        <p:nvSpPr>
          <p:cNvPr id="7" name="Oval 16"/>
          <p:cNvSpPr>
            <a:spLocks noChangeArrowheads="1"/>
          </p:cNvSpPr>
          <p:nvPr/>
        </p:nvSpPr>
        <p:spPr bwMode="auto">
          <a:xfrm>
            <a:off x="7308652" y="2898709"/>
            <a:ext cx="504825" cy="504825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 dirty="0"/>
              <a:t>T</a:t>
            </a:r>
            <a:r>
              <a:rPr lang="en-GB" b="0" baseline="-25000" dirty="0"/>
              <a:t>2</a:t>
            </a:r>
          </a:p>
        </p:txBody>
      </p:sp>
      <p:cxnSp>
        <p:nvCxnSpPr>
          <p:cNvPr id="9" name="Straight Arrow Connector 8"/>
          <p:cNvCxnSpPr>
            <a:stCxn id="6" idx="2"/>
          </p:cNvCxnSpPr>
          <p:nvPr/>
        </p:nvCxnSpPr>
        <p:spPr>
          <a:xfrm flipH="1">
            <a:off x="5508104" y="2294306"/>
            <a:ext cx="1800548" cy="39565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2"/>
          </p:cNvCxnSpPr>
          <p:nvPr/>
        </p:nvCxnSpPr>
        <p:spPr>
          <a:xfrm flipH="1" flipV="1">
            <a:off x="5508104" y="2898709"/>
            <a:ext cx="1800548" cy="25241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87624" y="2060848"/>
            <a:ext cx="4178559" cy="13681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323850" y="4293096"/>
            <a:ext cx="8496300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Threads are blocked while waiting to get into monitor</a:t>
            </a:r>
          </a:p>
          <a:p>
            <a:r>
              <a:rPr lang="en-US" kern="0" dirty="0"/>
              <a:t>When first thread exists, another can enter</a:t>
            </a:r>
          </a:p>
        </p:txBody>
      </p:sp>
    </p:spTree>
    <p:extLst>
      <p:ext uri="{BB962C8B-B14F-4D97-AF65-F5344CB8AC3E}">
        <p14:creationId xmlns:p14="http://schemas.microsoft.com/office/powerpoint/2010/main" val="32631068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Variables in Monitors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052736"/>
            <a:ext cx="4394182" cy="5112568"/>
          </a:xfrm>
        </p:spPr>
        <p:txBody>
          <a:bodyPr/>
          <a:lstStyle/>
          <a:p>
            <a:r>
              <a:rPr lang="en-US" dirty="0"/>
              <a:t>Similar concept to semaphores</a:t>
            </a:r>
          </a:p>
          <a:p>
            <a:r>
              <a:rPr lang="en-US" dirty="0"/>
              <a:t>Condition variable associated with a queue </a:t>
            </a:r>
          </a:p>
          <a:p>
            <a:pPr lvl="4"/>
            <a:endParaRPr lang="en-US" dirty="0"/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condition </a:t>
            </a:r>
            <a:r>
              <a:rPr lang="en-US" dirty="0">
                <a:latin typeface="Consolas" panose="020B0609020204030204" pitchFamily="49" charset="0"/>
              </a:rPr>
              <a:t>x;  // declaration</a:t>
            </a:r>
          </a:p>
          <a:p>
            <a:pPr lvl="4"/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x.</a:t>
            </a:r>
            <a:r>
              <a:rPr lang="en-US" b="1" dirty="0" err="1">
                <a:latin typeface="Consolas" panose="020B0609020204030204" pitchFamily="49" charset="0"/>
              </a:rPr>
              <a:t>wait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/>
              <a:t>Process which invokes this operation is blocked</a:t>
            </a:r>
          </a:p>
          <a:p>
            <a:pPr lvl="4"/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x.</a:t>
            </a:r>
            <a:r>
              <a:rPr lang="en-US" b="1" dirty="0" err="1">
                <a:latin typeface="Consolas" panose="020B0609020204030204" pitchFamily="49" charset="0"/>
              </a:rPr>
              <a:t>signal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/>
              <a:t>A blocked process can resume execution</a:t>
            </a:r>
          </a:p>
          <a:p>
            <a:pPr lvl="1"/>
            <a:r>
              <a:rPr lang="en-US" dirty="0"/>
              <a:t>If no process issue </a:t>
            </a:r>
            <a:r>
              <a:rPr lang="en-US" dirty="0" err="1"/>
              <a:t>x.wait</a:t>
            </a:r>
            <a:r>
              <a:rPr lang="en-US" dirty="0"/>
              <a:t> () on variable x, then it has no effect on the variable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72</a:t>
            </a:fld>
            <a:endParaRPr lang="en-GB"/>
          </a:p>
        </p:txBody>
      </p:sp>
      <p:sp>
        <p:nvSpPr>
          <p:cNvPr id="6" name="Rectangle 41"/>
          <p:cNvSpPr>
            <a:spLocks noChangeArrowheads="1"/>
          </p:cNvSpPr>
          <p:nvPr/>
        </p:nvSpPr>
        <p:spPr bwMode="auto">
          <a:xfrm>
            <a:off x="4604085" y="1720659"/>
            <a:ext cx="2305050" cy="36718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de-DE" b="0">
              <a:latin typeface="+mj-lt"/>
            </a:endParaRPr>
          </a:p>
        </p:txBody>
      </p:sp>
      <p:sp>
        <p:nvSpPr>
          <p:cNvPr id="7" name="Rectangle 42"/>
          <p:cNvSpPr>
            <a:spLocks noChangeArrowheads="1"/>
          </p:cNvSpPr>
          <p:nvPr/>
        </p:nvSpPr>
        <p:spPr bwMode="auto">
          <a:xfrm>
            <a:off x="4604085" y="1720659"/>
            <a:ext cx="2303463" cy="7921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auto">
          <a:xfrm>
            <a:off x="4604085" y="4744846"/>
            <a:ext cx="2303463" cy="9350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 dirty="0">
                <a:latin typeface="+mj-lt"/>
              </a:rPr>
              <a:t>Initialization Code</a:t>
            </a:r>
          </a:p>
        </p:txBody>
      </p:sp>
      <p:sp>
        <p:nvSpPr>
          <p:cNvPr id="9" name="Oval 44"/>
          <p:cNvSpPr>
            <a:spLocks noChangeArrowheads="1"/>
          </p:cNvSpPr>
          <p:nvPr/>
        </p:nvSpPr>
        <p:spPr bwMode="auto">
          <a:xfrm>
            <a:off x="7123448" y="1792096"/>
            <a:ext cx="361950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i</a:t>
            </a:r>
          </a:p>
        </p:txBody>
      </p:sp>
      <p:sp>
        <p:nvSpPr>
          <p:cNvPr id="10" name="Oval 45"/>
          <p:cNvSpPr>
            <a:spLocks noChangeArrowheads="1"/>
          </p:cNvSpPr>
          <p:nvPr/>
        </p:nvSpPr>
        <p:spPr bwMode="auto">
          <a:xfrm>
            <a:off x="5396248" y="2152459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j</a:t>
            </a:r>
          </a:p>
        </p:txBody>
      </p:sp>
      <p:sp>
        <p:nvSpPr>
          <p:cNvPr id="11" name="Oval 46"/>
          <p:cNvSpPr>
            <a:spLocks noChangeArrowheads="1"/>
          </p:cNvSpPr>
          <p:nvPr/>
        </p:nvSpPr>
        <p:spPr bwMode="auto">
          <a:xfrm>
            <a:off x="8204535" y="179209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k</a:t>
            </a:r>
          </a:p>
        </p:txBody>
      </p:sp>
      <p:sp>
        <p:nvSpPr>
          <p:cNvPr id="12" name="Oval 47"/>
          <p:cNvSpPr>
            <a:spLocks noChangeArrowheads="1"/>
          </p:cNvSpPr>
          <p:nvPr/>
        </p:nvSpPr>
        <p:spPr bwMode="auto">
          <a:xfrm>
            <a:off x="8779210" y="1792096"/>
            <a:ext cx="358775" cy="361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l</a:t>
            </a:r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 flipH="1">
            <a:off x="7988635" y="2007996"/>
            <a:ext cx="215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4" name="Line 50"/>
          <p:cNvSpPr>
            <a:spLocks noChangeShapeType="1"/>
          </p:cNvSpPr>
          <p:nvPr/>
        </p:nvSpPr>
        <p:spPr bwMode="auto">
          <a:xfrm flipH="1">
            <a:off x="7483810" y="2007996"/>
            <a:ext cx="215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Text Box 52"/>
          <p:cNvSpPr txBox="1">
            <a:spLocks noChangeArrowheads="1"/>
          </p:cNvSpPr>
          <p:nvPr/>
        </p:nvSpPr>
        <p:spPr bwMode="auto">
          <a:xfrm>
            <a:off x="4675523" y="1720659"/>
            <a:ext cx="360362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0">
                <a:latin typeface="+mj-lt"/>
              </a:rPr>
              <a:t>x</a:t>
            </a:r>
          </a:p>
          <a:p>
            <a:pPr>
              <a:spcBef>
                <a:spcPct val="50000"/>
              </a:spcBef>
            </a:pPr>
            <a:r>
              <a:rPr lang="en-GB" b="0">
                <a:latin typeface="+mj-lt"/>
              </a:rPr>
              <a:t>y</a:t>
            </a:r>
          </a:p>
        </p:txBody>
      </p:sp>
      <p:sp>
        <p:nvSpPr>
          <p:cNvPr id="16" name="Rectangle 53"/>
          <p:cNvSpPr>
            <a:spLocks noChangeArrowheads="1"/>
          </p:cNvSpPr>
          <p:nvPr/>
        </p:nvSpPr>
        <p:spPr bwMode="auto">
          <a:xfrm>
            <a:off x="4819985" y="2800159"/>
            <a:ext cx="360363" cy="115252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17" name="Rectangle 54"/>
          <p:cNvSpPr>
            <a:spLocks noChangeArrowheads="1"/>
          </p:cNvSpPr>
          <p:nvPr/>
        </p:nvSpPr>
        <p:spPr bwMode="auto">
          <a:xfrm>
            <a:off x="5323223" y="2800159"/>
            <a:ext cx="360362" cy="115252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18" name="Rectangle 55"/>
          <p:cNvSpPr>
            <a:spLocks noChangeArrowheads="1"/>
          </p:cNvSpPr>
          <p:nvPr/>
        </p:nvSpPr>
        <p:spPr bwMode="auto">
          <a:xfrm>
            <a:off x="6404310" y="2800159"/>
            <a:ext cx="360363" cy="115252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19" name="Text Box 56"/>
          <p:cNvSpPr txBox="1">
            <a:spLocks noChangeArrowheads="1"/>
          </p:cNvSpPr>
          <p:nvPr/>
        </p:nvSpPr>
        <p:spPr bwMode="auto">
          <a:xfrm>
            <a:off x="5756610" y="3160521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0">
                <a:latin typeface="+mj-lt"/>
              </a:rPr>
              <a:t>…</a:t>
            </a:r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5180348" y="4168584"/>
            <a:ext cx="12779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0">
                <a:latin typeface="+mj-lt"/>
              </a:rPr>
              <a:t>Operations</a:t>
            </a:r>
          </a:p>
        </p:txBody>
      </p:sp>
      <p:sp>
        <p:nvSpPr>
          <p:cNvPr id="21" name="Line 58"/>
          <p:cNvSpPr>
            <a:spLocks noChangeShapeType="1"/>
          </p:cNvSpPr>
          <p:nvPr/>
        </p:nvSpPr>
        <p:spPr bwMode="auto">
          <a:xfrm flipH="1">
            <a:off x="5035885" y="1936559"/>
            <a:ext cx="3603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2" name="Oval 59"/>
          <p:cNvSpPr>
            <a:spLocks noChangeArrowheads="1"/>
          </p:cNvSpPr>
          <p:nvPr/>
        </p:nvSpPr>
        <p:spPr bwMode="auto">
          <a:xfrm>
            <a:off x="5396248" y="1792096"/>
            <a:ext cx="360362" cy="361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i</a:t>
            </a:r>
          </a:p>
        </p:txBody>
      </p:sp>
      <p:sp>
        <p:nvSpPr>
          <p:cNvPr id="23" name="Line 60"/>
          <p:cNvSpPr>
            <a:spLocks noChangeShapeType="1"/>
          </p:cNvSpPr>
          <p:nvPr/>
        </p:nvSpPr>
        <p:spPr bwMode="auto">
          <a:xfrm flipH="1">
            <a:off x="5755023" y="1936559"/>
            <a:ext cx="360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4" name="Oval 61"/>
          <p:cNvSpPr>
            <a:spLocks noChangeArrowheads="1"/>
          </p:cNvSpPr>
          <p:nvPr/>
        </p:nvSpPr>
        <p:spPr bwMode="auto">
          <a:xfrm>
            <a:off x="6115385" y="1792096"/>
            <a:ext cx="360363" cy="361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l</a:t>
            </a:r>
          </a:p>
        </p:txBody>
      </p:sp>
      <p:sp>
        <p:nvSpPr>
          <p:cNvPr id="25" name="Line 62"/>
          <p:cNvSpPr>
            <a:spLocks noChangeShapeType="1"/>
          </p:cNvSpPr>
          <p:nvPr/>
        </p:nvSpPr>
        <p:spPr bwMode="auto">
          <a:xfrm flipH="1">
            <a:off x="6907548" y="2007996"/>
            <a:ext cx="215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6" name="Line 63"/>
          <p:cNvSpPr>
            <a:spLocks noChangeShapeType="1"/>
          </p:cNvSpPr>
          <p:nvPr/>
        </p:nvSpPr>
        <p:spPr bwMode="auto">
          <a:xfrm flipH="1">
            <a:off x="8563310" y="2007996"/>
            <a:ext cx="215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7" name="Line 65"/>
          <p:cNvSpPr>
            <a:spLocks noChangeShapeType="1"/>
          </p:cNvSpPr>
          <p:nvPr/>
        </p:nvSpPr>
        <p:spPr bwMode="auto">
          <a:xfrm flipH="1">
            <a:off x="5035885" y="2368359"/>
            <a:ext cx="3603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8" name="Oval 68"/>
          <p:cNvSpPr>
            <a:spLocks noChangeArrowheads="1"/>
          </p:cNvSpPr>
          <p:nvPr/>
        </p:nvSpPr>
        <p:spPr bwMode="auto">
          <a:xfrm>
            <a:off x="7699710" y="179209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j</a:t>
            </a:r>
          </a:p>
        </p:txBody>
      </p:sp>
      <p:sp>
        <p:nvSpPr>
          <p:cNvPr id="29" name="Oval 69"/>
          <p:cNvSpPr>
            <a:spLocks noChangeArrowheads="1"/>
          </p:cNvSpPr>
          <p:nvPr/>
        </p:nvSpPr>
        <p:spPr bwMode="auto">
          <a:xfrm>
            <a:off x="6115385" y="2152459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0">
                <a:latin typeface="+mj-lt"/>
              </a:rPr>
              <a:t>P</a:t>
            </a:r>
            <a:r>
              <a:rPr lang="en-GB" b="0" baseline="-25000">
                <a:latin typeface="+mj-lt"/>
              </a:rPr>
              <a:t>k</a:t>
            </a:r>
          </a:p>
        </p:txBody>
      </p:sp>
      <p:sp>
        <p:nvSpPr>
          <p:cNvPr id="30" name="Line 70"/>
          <p:cNvSpPr>
            <a:spLocks noChangeShapeType="1"/>
          </p:cNvSpPr>
          <p:nvPr/>
        </p:nvSpPr>
        <p:spPr bwMode="auto">
          <a:xfrm flipH="1">
            <a:off x="5755023" y="2296921"/>
            <a:ext cx="36036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65778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Problem Revisited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3960118" cy="525700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monitor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ProducerConsumer</a:t>
            </a:r>
            <a:r>
              <a:rPr lang="en-US" sz="1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itemCount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condition</a:t>
            </a:r>
            <a:r>
              <a:rPr lang="en-US" sz="1400" dirty="0">
                <a:latin typeface="Consolas" panose="020B0609020204030204" pitchFamily="49" charset="0"/>
              </a:rPr>
              <a:t> full, empty;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>
                <a:latin typeface="Consolas" panose="020B0609020204030204" pitchFamily="49" charset="0"/>
              </a:rPr>
              <a:t>procedure</a:t>
            </a:r>
            <a:r>
              <a:rPr lang="en-US" sz="1400" dirty="0">
                <a:latin typeface="Consolas" panose="020B0609020204030204" pitchFamily="49" charset="0"/>
              </a:rPr>
              <a:t> initialization( ){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</a:rPr>
              <a:t>itemCount</a:t>
            </a:r>
            <a:r>
              <a:rPr lang="en-US" sz="1400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>
                <a:latin typeface="Consolas" panose="020B0609020204030204" pitchFamily="49" charset="0"/>
              </a:rPr>
              <a:t>procedure</a:t>
            </a:r>
            <a:r>
              <a:rPr lang="en-US" sz="1400" dirty="0">
                <a:latin typeface="Consolas" panose="020B0609020204030204" pitchFamily="49" charset="0"/>
              </a:rPr>
              <a:t> add(item) 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latin typeface="Consolas" panose="020B0609020204030204" pitchFamily="49" charset="0"/>
              </a:rPr>
              <a:t>if</a:t>
            </a:r>
            <a:r>
              <a:rPr lang="en-US" sz="1400" dirty="0">
                <a:latin typeface="Consolas" panose="020B0609020204030204" pitchFamily="49" charset="0"/>
              </a:rPr>
              <a:t> (</a:t>
            </a:r>
            <a:r>
              <a:rPr lang="en-US" sz="1400" dirty="0" err="1">
                <a:latin typeface="Consolas" panose="020B0609020204030204" pitchFamily="49" charset="0"/>
              </a:rPr>
              <a:t>itemCount</a:t>
            </a:r>
            <a:r>
              <a:rPr lang="en-US" sz="1400" dirty="0">
                <a:latin typeface="Consolas" panose="020B0609020204030204" pitchFamily="49" charset="0"/>
              </a:rPr>
              <a:t> == BUFFER_SIZE)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latin typeface="Consolas" panose="020B0609020204030204" pitchFamily="49" charset="0"/>
              </a:rPr>
              <a:t>full.</a:t>
            </a:r>
            <a:r>
              <a:rPr 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wait</a:t>
            </a:r>
            <a:r>
              <a:rPr lang="en-US" sz="1400" dirty="0">
                <a:latin typeface="Consolas" panose="020B0609020204030204" pitchFamily="49" charset="0"/>
              </a:rPr>
              <a:t>( );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</a:rPr>
              <a:t>putItemIntoBuffer</a:t>
            </a:r>
            <a:r>
              <a:rPr lang="en-US" sz="1400" dirty="0">
                <a:latin typeface="Consolas" panose="020B0609020204030204" pitchFamily="49" charset="0"/>
              </a:rPr>
              <a:t>(item);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</a:rPr>
              <a:t>itemCount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itemCount</a:t>
            </a:r>
            <a:r>
              <a:rPr lang="en-US" sz="1400" dirty="0">
                <a:latin typeface="Consolas" panose="020B0609020204030204" pitchFamily="49" charset="0"/>
              </a:rPr>
              <a:t> + 1;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latin typeface="Consolas" panose="020B0609020204030204" pitchFamily="49" charset="0"/>
              </a:rPr>
              <a:t>if</a:t>
            </a:r>
            <a:r>
              <a:rPr lang="en-US" sz="1400" dirty="0">
                <a:latin typeface="Consolas" panose="020B0609020204030204" pitchFamily="49" charset="0"/>
              </a:rPr>
              <a:t> (</a:t>
            </a:r>
            <a:r>
              <a:rPr lang="en-US" sz="1400" dirty="0" err="1">
                <a:latin typeface="Consolas" panose="020B0609020204030204" pitchFamily="49" charset="0"/>
              </a:rPr>
              <a:t>itemCount</a:t>
            </a:r>
            <a:r>
              <a:rPr lang="en-US" sz="1400" dirty="0">
                <a:latin typeface="Consolas" panose="020B0609020204030204" pitchFamily="49" charset="0"/>
              </a:rPr>
              <a:t> == 1)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latin typeface="Consolas" panose="020B0609020204030204" pitchFamily="49" charset="0"/>
              </a:rPr>
              <a:t>empty.</a:t>
            </a:r>
            <a:r>
              <a:rPr 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signal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>
                <a:latin typeface="Consolas" panose="020B0609020204030204" pitchFamily="49" charset="0"/>
              </a:rPr>
              <a:t>procedure</a:t>
            </a:r>
            <a:r>
              <a:rPr lang="en-US" sz="1400" dirty="0">
                <a:latin typeface="Consolas" panose="020B0609020204030204" pitchFamily="49" charset="0"/>
              </a:rPr>
              <a:t> remove() {</a:t>
            </a:r>
          </a:p>
          <a:p>
            <a:pPr marL="0" indent="0">
              <a:buFontTx/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latin typeface="Consolas" panose="020B0609020204030204" pitchFamily="49" charset="0"/>
              </a:rPr>
              <a:t>if</a:t>
            </a:r>
            <a:r>
              <a:rPr lang="en-US" sz="1400" dirty="0">
                <a:latin typeface="Consolas" panose="020B0609020204030204" pitchFamily="49" charset="0"/>
              </a:rPr>
              <a:t> (</a:t>
            </a:r>
            <a:r>
              <a:rPr lang="en-US" sz="1400" dirty="0" err="1">
                <a:latin typeface="Consolas" panose="020B0609020204030204" pitchFamily="49" charset="0"/>
              </a:rPr>
              <a:t>itemCount</a:t>
            </a:r>
            <a:r>
              <a:rPr lang="en-US" sz="1400" dirty="0">
                <a:latin typeface="Consolas" panose="020B0609020204030204" pitchFamily="49" charset="0"/>
              </a:rPr>
              <a:t> == 0) </a:t>
            </a:r>
          </a:p>
          <a:p>
            <a:pPr marL="0" indent="0">
              <a:buFontTx/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latin typeface="Consolas" panose="020B0609020204030204" pitchFamily="49" charset="0"/>
              </a:rPr>
              <a:t>empty.</a:t>
            </a:r>
            <a:r>
              <a:rPr 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wait</a:t>
            </a:r>
            <a:r>
              <a:rPr lang="en-US" sz="1400" dirty="0">
                <a:latin typeface="Consolas" panose="020B0609020204030204" pitchFamily="49" charset="0"/>
              </a:rPr>
              <a:t>( 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73</a:t>
            </a:fld>
            <a:endParaRPr lang="en-GB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427984" y="1110952"/>
            <a:ext cx="4356671" cy="52707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item = </a:t>
            </a:r>
            <a:r>
              <a:rPr lang="en-US" sz="1400" kern="0" dirty="0" err="1">
                <a:latin typeface="Consolas" panose="020B0609020204030204" pitchFamily="49" charset="0"/>
              </a:rPr>
              <a:t>removeItemFromBuffer</a:t>
            </a:r>
            <a:r>
              <a:rPr lang="en-US" sz="1400" kern="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kern="0" dirty="0" err="1">
                <a:latin typeface="Consolas" panose="020B0609020204030204" pitchFamily="49" charset="0"/>
              </a:rPr>
              <a:t>itemCount</a:t>
            </a:r>
            <a:r>
              <a:rPr lang="en-US" sz="1400" kern="0" dirty="0">
                <a:latin typeface="Consolas" panose="020B0609020204030204" pitchFamily="49" charset="0"/>
              </a:rPr>
              <a:t> = </a:t>
            </a:r>
            <a:r>
              <a:rPr lang="en-US" sz="1400" kern="0" dirty="0" err="1">
                <a:latin typeface="Consolas" panose="020B0609020204030204" pitchFamily="49" charset="0"/>
              </a:rPr>
              <a:t>itemCount</a:t>
            </a:r>
            <a:r>
              <a:rPr lang="en-US" sz="1400" kern="0" dirty="0">
                <a:latin typeface="Consolas" panose="020B0609020204030204" pitchFamily="49" charset="0"/>
              </a:rPr>
              <a:t> - 1;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b="1" kern="0" dirty="0">
                <a:latin typeface="Consolas" panose="020B0609020204030204" pitchFamily="49" charset="0"/>
              </a:rPr>
              <a:t>if</a:t>
            </a:r>
            <a:r>
              <a:rPr lang="en-US" sz="1400" kern="0" dirty="0">
                <a:latin typeface="Consolas" panose="020B0609020204030204" pitchFamily="49" charset="0"/>
              </a:rPr>
              <a:t> (</a:t>
            </a:r>
            <a:r>
              <a:rPr lang="en-US" sz="1400" kern="0" dirty="0" err="1">
                <a:latin typeface="Consolas" panose="020B0609020204030204" pitchFamily="49" charset="0"/>
              </a:rPr>
              <a:t>itemCount</a:t>
            </a:r>
            <a:r>
              <a:rPr lang="en-US" sz="1400" kern="0" dirty="0">
                <a:latin typeface="Consolas" panose="020B0609020204030204" pitchFamily="49" charset="0"/>
              </a:rPr>
              <a:t> == BUFFER_SIZE - 1) 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    </a:t>
            </a:r>
            <a:r>
              <a:rPr lang="en-US" sz="1400" kern="0" dirty="0" err="1">
                <a:latin typeface="Consolas" panose="020B0609020204030204" pitchFamily="49" charset="0"/>
              </a:rPr>
              <a:t>full.</a:t>
            </a:r>
            <a:r>
              <a:rPr lang="en-US" sz="1400" b="1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signal</a:t>
            </a:r>
            <a:r>
              <a:rPr lang="en-US" sz="1400" kern="0" dirty="0">
                <a:latin typeface="Consolas" panose="020B0609020204030204" pitchFamily="49" charset="0"/>
              </a:rPr>
              <a:t>( );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b="1" kern="0" dirty="0">
                <a:latin typeface="Consolas" panose="020B0609020204030204" pitchFamily="49" charset="0"/>
              </a:rPr>
              <a:t>return</a:t>
            </a:r>
            <a:r>
              <a:rPr lang="en-US" sz="1400" kern="0" dirty="0">
                <a:latin typeface="Consolas" panose="020B0609020204030204" pitchFamily="49" charset="0"/>
              </a:rPr>
              <a:t> item;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en-US" sz="1400" b="1" kern="0" dirty="0">
                <a:latin typeface="Consolas" panose="020B0609020204030204" pitchFamily="49" charset="0"/>
              </a:rPr>
              <a:t>procedure</a:t>
            </a:r>
            <a:r>
              <a:rPr lang="en-US" sz="1400" kern="0" dirty="0">
                <a:latin typeface="Consolas" panose="020B0609020204030204" pitchFamily="49" charset="0"/>
              </a:rPr>
              <a:t> producer() {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</a:t>
            </a:r>
            <a:r>
              <a:rPr lang="en-US" sz="1400" b="1" kern="0" dirty="0">
                <a:latin typeface="Consolas" panose="020B0609020204030204" pitchFamily="49" charset="0"/>
              </a:rPr>
              <a:t>while</a:t>
            </a:r>
            <a:r>
              <a:rPr lang="en-US" sz="1400" kern="0" dirty="0">
                <a:latin typeface="Consolas" panose="020B0609020204030204" pitchFamily="49" charset="0"/>
              </a:rPr>
              <a:t> (true) {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item = </a:t>
            </a:r>
            <a:r>
              <a:rPr lang="en-US" sz="1400" kern="0" dirty="0" err="1">
                <a:latin typeface="Consolas" panose="020B0609020204030204" pitchFamily="49" charset="0"/>
              </a:rPr>
              <a:t>produceItem</a:t>
            </a:r>
            <a:r>
              <a:rPr lang="en-US" sz="1400" kern="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kern="0" dirty="0" err="1">
                <a:latin typeface="Consolas" panose="020B0609020204030204" pitchFamily="49" charset="0"/>
              </a:rPr>
              <a:t>ProducerConsumer.add</a:t>
            </a:r>
            <a:r>
              <a:rPr lang="en-US" sz="1400" kern="0" dirty="0">
                <a:latin typeface="Consolas" panose="020B0609020204030204" pitchFamily="49" charset="0"/>
              </a:rPr>
              <a:t>(item);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en-US" sz="1400" b="1" kern="0" dirty="0">
                <a:latin typeface="Consolas" panose="020B0609020204030204" pitchFamily="49" charset="0"/>
              </a:rPr>
              <a:t>procedure</a:t>
            </a:r>
            <a:r>
              <a:rPr lang="en-US" sz="1400" kern="0" dirty="0">
                <a:latin typeface="Consolas" panose="020B0609020204030204" pitchFamily="49" charset="0"/>
              </a:rPr>
              <a:t> consumer() {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</a:t>
            </a:r>
            <a:r>
              <a:rPr lang="en-US" sz="1400" b="1" kern="0" dirty="0">
                <a:latin typeface="Consolas" panose="020B0609020204030204" pitchFamily="49" charset="0"/>
              </a:rPr>
              <a:t>while</a:t>
            </a:r>
            <a:r>
              <a:rPr lang="en-US" sz="1400" kern="0" dirty="0">
                <a:latin typeface="Consolas" panose="020B0609020204030204" pitchFamily="49" charset="0"/>
              </a:rPr>
              <a:t> (true) {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item = </a:t>
            </a:r>
            <a:r>
              <a:rPr lang="en-US" sz="1400" kern="0" dirty="0" err="1">
                <a:latin typeface="Consolas" panose="020B0609020204030204" pitchFamily="49" charset="0"/>
              </a:rPr>
              <a:t>ProducerConsumer.remove</a:t>
            </a:r>
            <a:r>
              <a:rPr lang="en-US" sz="1400" kern="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kern="0" dirty="0" err="1">
                <a:latin typeface="Consolas" panose="020B0609020204030204" pitchFamily="49" charset="0"/>
              </a:rPr>
              <a:t>consumeItem</a:t>
            </a:r>
            <a:r>
              <a:rPr lang="en-US" sz="1400" kern="0" dirty="0">
                <a:latin typeface="Consolas" panose="020B0609020204030204" pitchFamily="49" charset="0"/>
              </a:rPr>
              <a:t>(item);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en-US" sz="14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62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happens if P executes </a:t>
            </a:r>
            <a:r>
              <a:rPr lang="en-US" dirty="0" err="1">
                <a:latin typeface="Consolas" panose="020B0609020204030204" pitchFamily="49" charset="0"/>
              </a:rPr>
              <a:t>x.signal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&amp; has still code to execute?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Two possibilities</a:t>
            </a:r>
          </a:p>
          <a:p>
            <a:r>
              <a:rPr lang="en-US" dirty="0">
                <a:solidFill>
                  <a:srgbClr val="0070C0"/>
                </a:solidFill>
              </a:rPr>
              <a:t>Hoare monitors </a:t>
            </a:r>
            <a:r>
              <a:rPr lang="en-US" dirty="0"/>
              <a:t>(Concurrent Pascal, original)</a:t>
            </a:r>
          </a:p>
          <a:p>
            <a:pPr lvl="1"/>
            <a:r>
              <a:rPr lang="en-US" dirty="0"/>
              <a:t>Signal and wait: </a:t>
            </a:r>
            <a:r>
              <a:rPr lang="en-US"/>
              <a:t>P either </a:t>
            </a:r>
            <a:r>
              <a:rPr lang="en-US" dirty="0"/>
              <a:t>waits for Q to leave the monitor or waits for some other condition</a:t>
            </a:r>
          </a:p>
          <a:p>
            <a:pPr lvl="1"/>
            <a:r>
              <a:rPr lang="en-US" dirty="0"/>
              <a:t>The condition that Q was anticipating is guaranteed to hold	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if (empty) wait(condition);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Mesa monitors </a:t>
            </a:r>
            <a:r>
              <a:rPr lang="en-US" dirty="0"/>
              <a:t>(Mesa, Java)</a:t>
            </a:r>
          </a:p>
          <a:p>
            <a:pPr lvl="1"/>
            <a:r>
              <a:rPr lang="en-US" dirty="0"/>
              <a:t>Signal and continue: Q either waits until P leaves the monitor or for some other condition</a:t>
            </a:r>
          </a:p>
          <a:p>
            <a:pPr lvl="1"/>
            <a:r>
              <a:rPr lang="en-US" dirty="0"/>
              <a:t>Condition is not necessarily true when Q runs again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while (empty) wait(condition);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5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Variables vs. Semaphores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75</a:t>
            </a:fld>
            <a:endParaRPr lang="en-GB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308084" y="1124744"/>
            <a:ext cx="4345558" cy="5138737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Semaphore</a:t>
            </a:r>
          </a:p>
          <a:p>
            <a:r>
              <a:rPr lang="en-US" dirty="0"/>
              <a:t>Can be used anywhere in a program, but should not be used in a monitor </a:t>
            </a:r>
          </a:p>
          <a:p>
            <a:r>
              <a:rPr lang="en-US" dirty="0">
                <a:latin typeface="Consolas" panose="020B0609020204030204" pitchFamily="49" charset="0"/>
              </a:rPr>
              <a:t>wait() </a:t>
            </a:r>
            <a:r>
              <a:rPr lang="en-US" dirty="0"/>
              <a:t>does not always block the caller (i.e., when the semaphore counter is greater than zero)</a:t>
            </a:r>
          </a:p>
          <a:p>
            <a:r>
              <a:rPr lang="en-US" dirty="0">
                <a:latin typeface="Consolas" panose="020B0609020204030204" pitchFamily="49" charset="0"/>
              </a:rPr>
              <a:t>signal() </a:t>
            </a:r>
            <a:r>
              <a:rPr lang="en-US" dirty="0"/>
              <a:t>either releases a blocked thread, if there is one, or increases the semaphore counter</a:t>
            </a:r>
          </a:p>
          <a:p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signal() </a:t>
            </a:r>
            <a:r>
              <a:rPr lang="en-US" dirty="0"/>
              <a:t>releases a blocked thread, the caller and the released thread both continue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4732472" y="1150913"/>
            <a:ext cx="4176464" cy="51125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0070C0"/>
                </a:solidFill>
              </a:rPr>
              <a:t>Condition variables</a:t>
            </a:r>
          </a:p>
          <a:p>
            <a:r>
              <a:rPr lang="en-US" kern="0" dirty="0"/>
              <a:t>Can only be used in monitors </a:t>
            </a:r>
          </a:p>
          <a:p>
            <a:r>
              <a:rPr lang="en-US" kern="0" dirty="0">
                <a:latin typeface="Consolas" panose="020B0609020204030204" pitchFamily="49" charset="0"/>
              </a:rPr>
              <a:t>wait() </a:t>
            </a:r>
            <a:r>
              <a:rPr lang="en-US" kern="0" dirty="0"/>
              <a:t>always blocks the caller </a:t>
            </a:r>
          </a:p>
          <a:p>
            <a:r>
              <a:rPr lang="en-US" kern="0" dirty="0">
                <a:latin typeface="Consolas" panose="020B0609020204030204" pitchFamily="49" charset="0"/>
              </a:rPr>
              <a:t>signal() </a:t>
            </a:r>
            <a:r>
              <a:rPr lang="en-US" kern="0" dirty="0"/>
              <a:t>either releases a blocked thread, if there is one, or the signal is lost as if it never happens</a:t>
            </a:r>
          </a:p>
          <a:p>
            <a:r>
              <a:rPr lang="en-US" kern="0" dirty="0"/>
              <a:t>If </a:t>
            </a:r>
            <a:r>
              <a:rPr lang="en-US" kern="0" dirty="0">
                <a:latin typeface="Consolas" panose="020B0609020204030204" pitchFamily="49" charset="0"/>
              </a:rPr>
              <a:t>signal() </a:t>
            </a:r>
            <a:r>
              <a:rPr lang="en-US" kern="0" dirty="0"/>
              <a:t>releases a blocked thread. Only one of the caller or the released thread can continue, but not both</a:t>
            </a:r>
          </a:p>
          <a:p>
            <a:pPr lvl="1"/>
            <a:endParaRPr lang="en-US" kern="0" dirty="0"/>
          </a:p>
          <a:p>
            <a:endParaRPr lang="en-US" kern="0" dirty="0"/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7064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Dining Philosophers Problem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3960118" cy="525700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monitor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DiningPhilosophers</a:t>
            </a:r>
            <a:r>
              <a:rPr lang="en-US" sz="1400" dirty="0"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latin typeface="Consolas" panose="020B0609020204030204" pitchFamily="49" charset="0"/>
              </a:rPr>
              <a:t>enum</a:t>
            </a:r>
            <a:r>
              <a:rPr lang="en-US" sz="1400" dirty="0">
                <a:latin typeface="Consolas" panose="020B0609020204030204" pitchFamily="49" charset="0"/>
              </a:rPr>
              <a:t> {THINK,HUNGRY,EAT) state[5];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condition</a:t>
            </a:r>
            <a:r>
              <a:rPr lang="en-US" sz="1400" dirty="0">
                <a:latin typeface="Consolas" panose="020B0609020204030204" pitchFamily="49" charset="0"/>
              </a:rPr>
              <a:t> self [5];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>
                <a:latin typeface="Consolas" panose="020B0609020204030204" pitchFamily="49" charset="0"/>
              </a:rPr>
              <a:t>void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</a:rPr>
              <a:t>pickup</a:t>
            </a:r>
            <a:r>
              <a:rPr lang="en-US" sz="1400" dirty="0">
                <a:latin typeface="Consolas" panose="020B0609020204030204" pitchFamily="49" charset="0"/>
              </a:rPr>
              <a:t> (</a:t>
            </a:r>
            <a:r>
              <a:rPr lang="en-US" sz="1400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state[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] = HUNGRY;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test(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latin typeface="Consolas" panose="020B0609020204030204" pitchFamily="49" charset="0"/>
              </a:rPr>
              <a:t>if</a:t>
            </a:r>
            <a:r>
              <a:rPr lang="en-US" sz="1400" dirty="0">
                <a:latin typeface="Consolas" panose="020B0609020204030204" pitchFamily="49" charset="0"/>
              </a:rPr>
              <a:t> (state[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] != EATING)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self [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].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wait()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>
                <a:latin typeface="Consolas" panose="020B0609020204030204" pitchFamily="49" charset="0"/>
              </a:rPr>
              <a:t>void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</a:rPr>
              <a:t>putdown</a:t>
            </a:r>
            <a:r>
              <a:rPr lang="en-US" sz="1400" dirty="0">
                <a:latin typeface="Consolas" panose="020B0609020204030204" pitchFamily="49" charset="0"/>
              </a:rPr>
              <a:t> (</a:t>
            </a:r>
            <a:r>
              <a:rPr lang="en-US" sz="1400" b="1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state[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] = THINKING;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// test left &amp; right neighbors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test((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 + 4) % 5);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test((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 + 1) % 5);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latin typeface="Consolas" panose="020B0609020204030204" pitchFamily="49" charset="0"/>
              </a:rPr>
              <a:t>initialization_code</a:t>
            </a:r>
            <a:r>
              <a:rPr lang="en-US" sz="1400" dirty="0">
                <a:latin typeface="Consolas" panose="020B0609020204030204" pitchFamily="49" charset="0"/>
              </a:rPr>
              <a:t>() { </a:t>
            </a:r>
          </a:p>
          <a:p>
            <a:pPr marL="0" indent="0">
              <a:buFontTx/>
              <a:buNone/>
            </a:pPr>
            <a:r>
              <a:rPr lang="en-US" sz="1400" dirty="0"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latin typeface="Consolas" panose="020B0609020204030204" pitchFamily="49" charset="0"/>
              </a:rPr>
              <a:t>for</a:t>
            </a:r>
            <a:r>
              <a:rPr lang="en-US" sz="1400" dirty="0">
                <a:latin typeface="Consolas" panose="020B0609020204030204" pitchFamily="49" charset="0"/>
              </a:rPr>
              <a:t> (</a:t>
            </a:r>
            <a:r>
              <a:rPr lang="en-US" sz="1400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 = 0; 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 &lt; 5; 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FontTx/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state[</a:t>
            </a:r>
            <a:r>
              <a:rPr lang="en-US" sz="1400" dirty="0" err="1"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] = THINKING;</a:t>
            </a:r>
          </a:p>
          <a:p>
            <a:pPr marL="0" indent="0">
              <a:buFontTx/>
              <a:buNone/>
            </a:pPr>
            <a:r>
              <a:rPr lang="en-US" sz="1400" dirty="0"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76</a:t>
            </a:fld>
            <a:endParaRPr lang="en-GB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427984" y="1110952"/>
            <a:ext cx="4356671" cy="52707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</a:t>
            </a:r>
            <a:r>
              <a:rPr lang="en-US" sz="1400" b="1" kern="0" dirty="0">
                <a:latin typeface="Consolas" panose="020B0609020204030204" pitchFamily="49" charset="0"/>
              </a:rPr>
              <a:t>void</a:t>
            </a:r>
            <a:r>
              <a:rPr lang="en-US" sz="1400" kern="0" dirty="0">
                <a:latin typeface="Consolas" panose="020B0609020204030204" pitchFamily="49" charset="0"/>
              </a:rPr>
              <a:t> </a:t>
            </a:r>
            <a:r>
              <a:rPr lang="en-US" sz="1400" b="1" kern="0" dirty="0">
                <a:latin typeface="Consolas" panose="020B0609020204030204" pitchFamily="49" charset="0"/>
              </a:rPr>
              <a:t>test</a:t>
            </a:r>
            <a:r>
              <a:rPr lang="en-US" sz="1400" kern="0" dirty="0">
                <a:latin typeface="Consolas" panose="020B0609020204030204" pitchFamily="49" charset="0"/>
              </a:rPr>
              <a:t> (</a:t>
            </a:r>
            <a:r>
              <a:rPr lang="en-US" sz="1400" kern="0" dirty="0" err="1">
                <a:latin typeface="Consolas" panose="020B0609020204030204" pitchFamily="49" charset="0"/>
              </a:rPr>
              <a:t>int</a:t>
            </a:r>
            <a:r>
              <a:rPr lang="en-US" sz="1400" kern="0" dirty="0">
                <a:latin typeface="Consolas" panose="020B0609020204030204" pitchFamily="49" charset="0"/>
              </a:rPr>
              <a:t> </a:t>
            </a:r>
            <a:r>
              <a:rPr lang="en-US" sz="1400" kern="0" dirty="0" err="1">
                <a:latin typeface="Consolas" panose="020B0609020204030204" pitchFamily="49" charset="0"/>
              </a:rPr>
              <a:t>i</a:t>
            </a:r>
            <a:r>
              <a:rPr lang="en-US" sz="1400" kern="0" dirty="0">
                <a:latin typeface="Consolas" panose="020B0609020204030204" pitchFamily="49" charset="0"/>
              </a:rPr>
              <a:t>) { 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b="1" kern="0" dirty="0">
                <a:latin typeface="Consolas" panose="020B0609020204030204" pitchFamily="49" charset="0"/>
              </a:rPr>
              <a:t>if</a:t>
            </a:r>
            <a:r>
              <a:rPr lang="en-US" sz="1400" kern="0" dirty="0">
                <a:latin typeface="Consolas" panose="020B0609020204030204" pitchFamily="49" charset="0"/>
              </a:rPr>
              <a:t> ((state[(i+4)%5] != EATING) &amp;&amp;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	   (state[</a:t>
            </a:r>
            <a:r>
              <a:rPr lang="en-US" sz="1400" kern="0" dirty="0" err="1">
                <a:latin typeface="Consolas" panose="020B0609020204030204" pitchFamily="49" charset="0"/>
              </a:rPr>
              <a:t>i</a:t>
            </a:r>
            <a:r>
              <a:rPr lang="en-US" sz="1400" kern="0" dirty="0">
                <a:latin typeface="Consolas" panose="020B0609020204030204" pitchFamily="49" charset="0"/>
              </a:rPr>
              <a:t>] == HUNGRY) &amp;&amp;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	   (state[(i+1)%5] != EATING)) {   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    state[</a:t>
            </a:r>
            <a:r>
              <a:rPr lang="en-US" sz="1400" kern="0" dirty="0" err="1">
                <a:latin typeface="Consolas" panose="020B0609020204030204" pitchFamily="49" charset="0"/>
              </a:rPr>
              <a:t>i</a:t>
            </a:r>
            <a:r>
              <a:rPr lang="en-US" sz="1400" kern="0" dirty="0">
                <a:latin typeface="Consolas" panose="020B0609020204030204" pitchFamily="49" charset="0"/>
              </a:rPr>
              <a:t>] = EATING 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    self[</a:t>
            </a:r>
            <a:r>
              <a:rPr lang="en-US" sz="1400" kern="0" dirty="0" err="1">
                <a:latin typeface="Consolas" panose="020B0609020204030204" pitchFamily="49" charset="0"/>
              </a:rPr>
              <a:t>i</a:t>
            </a:r>
            <a:r>
              <a:rPr lang="en-US" sz="1400" kern="0" dirty="0">
                <a:latin typeface="Consolas" panose="020B0609020204030204" pitchFamily="49" charset="0"/>
              </a:rPr>
              <a:t>].</a:t>
            </a:r>
            <a:r>
              <a:rPr lang="en-US" sz="14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signal() </a:t>
            </a:r>
            <a:r>
              <a:rPr lang="en-US" sz="1400" kern="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en-US" sz="1400" kern="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400" b="1" kern="0" dirty="0">
                <a:solidFill>
                  <a:srgbClr val="0070C0"/>
                </a:solidFill>
                <a:latin typeface="+mj-lt"/>
              </a:rPr>
              <a:t>Function of Philosopher </a:t>
            </a:r>
            <a:r>
              <a:rPr lang="en-US" sz="1400" b="1" kern="0" dirty="0" err="1">
                <a:solidFill>
                  <a:srgbClr val="0070C0"/>
                </a:solidFill>
                <a:latin typeface="+mj-lt"/>
              </a:rPr>
              <a:t>i</a:t>
            </a:r>
            <a:endParaRPr lang="en-US" sz="1400" b="1" kern="0" dirty="0">
              <a:solidFill>
                <a:srgbClr val="0070C0"/>
              </a:solidFill>
              <a:latin typeface="+mj-lt"/>
            </a:endParaRPr>
          </a:p>
          <a:p>
            <a:pPr marL="0" indent="0">
              <a:buFontTx/>
              <a:buNone/>
            </a:pPr>
            <a:endParaRPr lang="en-US" sz="1400" kern="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Void philosopher(</a:t>
            </a:r>
            <a:r>
              <a:rPr lang="en-US" sz="1400" kern="0" dirty="0" err="1">
                <a:latin typeface="Consolas" panose="020B0609020204030204" pitchFamily="49" charset="0"/>
              </a:rPr>
              <a:t>int</a:t>
            </a:r>
            <a:r>
              <a:rPr lang="en-US" sz="1400" kern="0" dirty="0">
                <a:latin typeface="Consolas" panose="020B0609020204030204" pitchFamily="49" charset="0"/>
              </a:rPr>
              <a:t> </a:t>
            </a:r>
            <a:r>
              <a:rPr lang="en-US" sz="1400" kern="0" dirty="0" err="1">
                <a:latin typeface="Consolas" panose="020B0609020204030204" pitchFamily="49" charset="0"/>
              </a:rPr>
              <a:t>i</a:t>
            </a:r>
            <a:r>
              <a:rPr lang="en-US" sz="1400" kern="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while (true) {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kern="0" dirty="0" err="1">
                <a:latin typeface="Consolas" panose="020B0609020204030204" pitchFamily="49" charset="0"/>
              </a:rPr>
              <a:t>DiningPhilosophers.pickup</a:t>
            </a:r>
            <a:r>
              <a:rPr lang="en-US" sz="1400" kern="0" dirty="0">
                <a:latin typeface="Consolas" panose="020B0609020204030204" pitchFamily="49" charset="0"/>
              </a:rPr>
              <a:t> (</a:t>
            </a:r>
            <a:r>
              <a:rPr lang="en-US" sz="1400" kern="0" dirty="0" err="1">
                <a:latin typeface="Consolas" panose="020B0609020204030204" pitchFamily="49" charset="0"/>
              </a:rPr>
              <a:t>i</a:t>
            </a:r>
            <a:r>
              <a:rPr lang="en-US" sz="14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// EAT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</a:t>
            </a:r>
            <a:r>
              <a:rPr lang="en-US" sz="1400" kern="0" dirty="0" err="1">
                <a:latin typeface="Consolas" panose="020B0609020204030204" pitchFamily="49" charset="0"/>
              </a:rPr>
              <a:t>DiningPhilosophers.putdown</a:t>
            </a:r>
            <a:r>
              <a:rPr lang="en-US" sz="1400" kern="0" dirty="0">
                <a:latin typeface="Consolas" panose="020B0609020204030204" pitchFamily="49" charset="0"/>
              </a:rPr>
              <a:t> (</a:t>
            </a:r>
            <a:r>
              <a:rPr lang="en-US" sz="1400" kern="0" dirty="0" err="1">
                <a:latin typeface="Consolas" panose="020B0609020204030204" pitchFamily="49" charset="0"/>
              </a:rPr>
              <a:t>i</a:t>
            </a:r>
            <a:r>
              <a:rPr lang="en-US" sz="1400" kern="0" dirty="0">
                <a:latin typeface="Consolas" panose="020B0609020204030204" pitchFamily="49" charset="0"/>
              </a:rPr>
              <a:t>);  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    // THINK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sz="1400" kern="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en-US" sz="1400" kern="0" dirty="0">
              <a:latin typeface="Consolas" panose="020B0609020204030204" pitchFamily="49" charset="0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945475" y="6032324"/>
            <a:ext cx="7253050" cy="542328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6000"/>
              </a:lnSpc>
              <a:spcBef>
                <a:spcPct val="50000"/>
              </a:spcBef>
            </a:pPr>
            <a:r>
              <a:rPr lang="en-US" altLang="en-US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  <a:t>No deadlock but starvation is possible</a:t>
            </a:r>
          </a:p>
        </p:txBody>
      </p:sp>
    </p:spTree>
    <p:extLst>
      <p:ext uri="{BB962C8B-B14F-4D97-AF65-F5344CB8AC3E}">
        <p14:creationId xmlns:p14="http://schemas.microsoft.com/office/powerpoint/2010/main" val="317897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Variables and 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 variables are also used without monitors in conjunction with blocking locks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monitor is “just like” a module whose state includes a condition variable and a lock</a:t>
            </a:r>
          </a:p>
          <a:p>
            <a:pPr lvl="1"/>
            <a:r>
              <a:rPr lang="en-US" dirty="0"/>
              <a:t>Difference is syntactic; with monitors, compiler adds the code</a:t>
            </a:r>
          </a:p>
          <a:p>
            <a:r>
              <a:rPr lang="en-US" dirty="0"/>
              <a:t>It is “just as if” each procedure in the module calls </a:t>
            </a:r>
            <a:r>
              <a:rPr lang="en-US" dirty="0">
                <a:latin typeface="Consolas" panose="020B0609020204030204" pitchFamily="49" charset="0"/>
              </a:rPr>
              <a:t>acquire() </a:t>
            </a:r>
            <a:r>
              <a:rPr lang="en-US" dirty="0"/>
              <a:t>on entry and </a:t>
            </a:r>
            <a:r>
              <a:rPr lang="en-US" dirty="0">
                <a:latin typeface="Consolas" panose="020B0609020204030204" pitchFamily="49" charset="0"/>
              </a:rPr>
              <a:t>release() </a:t>
            </a:r>
            <a:r>
              <a:rPr lang="en-US" dirty="0"/>
              <a:t>on exit</a:t>
            </a:r>
          </a:p>
          <a:p>
            <a:pPr lvl="1"/>
            <a:r>
              <a:rPr lang="en-US" dirty="0"/>
              <a:t>But can be done anywhere in procedure, at finer granularity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77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75817" y="1916832"/>
            <a:ext cx="6192366" cy="165618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>
                <a:latin typeface="Consolas" panose="020B0609020204030204" pitchFamily="49" charset="0"/>
              </a:rPr>
              <a:t>procedure( ) {</a:t>
            </a:r>
          </a:p>
          <a:p>
            <a:pPr marL="0" indent="0">
              <a:buFontTx/>
              <a:buNone/>
            </a:pPr>
            <a:r>
              <a:rPr lang="en-US" sz="1800" kern="0">
                <a:latin typeface="Consolas" panose="020B0609020204030204" pitchFamily="49" charset="0"/>
              </a:rPr>
              <a:t>    Acquire(lock);</a:t>
            </a:r>
          </a:p>
          <a:p>
            <a:pPr marL="0" indent="0">
              <a:buFontTx/>
              <a:buNone/>
            </a:pPr>
            <a:r>
              <a:rPr lang="en-US" sz="1800" kern="0">
                <a:latin typeface="Consolas" panose="020B0609020204030204" pitchFamily="49" charset="0"/>
              </a:rPr>
              <a:t>    /* Do something including signal and wait*/ </a:t>
            </a:r>
          </a:p>
          <a:p>
            <a:pPr marL="0" indent="0">
              <a:buFontTx/>
              <a:buNone/>
            </a:pPr>
            <a:r>
              <a:rPr lang="en-US" sz="1800" kern="0">
                <a:latin typeface="Consolas" panose="020B0609020204030204" pitchFamily="49" charset="0"/>
              </a:rPr>
              <a:t>    Release(lock);</a:t>
            </a:r>
          </a:p>
          <a:p>
            <a:pPr marL="0" indent="0">
              <a:buFontTx/>
              <a:buNone/>
            </a:pPr>
            <a:r>
              <a:rPr lang="en-US" sz="1800" kern="0">
                <a:latin typeface="Consolas" panose="020B0609020204030204" pitchFamily="49" charset="0"/>
              </a:rPr>
              <a:t>}</a:t>
            </a:r>
            <a:endParaRPr lang="en-US" sz="18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94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Variables and Locks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542338" cy="511256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Lock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lock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Condition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AddToQueue</a:t>
            </a:r>
            <a:r>
              <a:rPr lang="en-US" sz="1600" dirty="0"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lock.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Acquire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</a:rPr>
              <a:t>;      // Lock before using shared data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put item on queue;   // Ok to access shared data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cond.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signal</a:t>
            </a:r>
            <a:r>
              <a:rPr lang="en-US" sz="1600" b="1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1600">
                <a:latin typeface="Consolas" panose="020B0609020204030204" pitchFamily="49" charset="0"/>
              </a:rPr>
              <a:t>; 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lock.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Release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</a:rPr>
              <a:t>;      // Unlock after done with shared data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RemoveFromQueue</a:t>
            </a:r>
            <a:r>
              <a:rPr lang="en-US" sz="1600" dirty="0"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lock.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Acquire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while nothing on queue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cond.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wait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(&amp;lock)</a:t>
            </a:r>
            <a:r>
              <a:rPr lang="en-US" sz="1600" dirty="0"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//Atomically release lock and block until signal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//Automatically re-acquire lock before it returns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          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// Difference in syntax, e.g., wait(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cond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, lock)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remove item from queue;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lock.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Release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return item;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5-Synchronization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67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79</a:t>
            </a:fld>
            <a:endParaRPr lang="en-GB"/>
          </a:p>
        </p:txBody>
      </p:sp>
      <p:pic>
        <p:nvPicPr>
          <p:cNvPr id="6" name="Picture 3" descr="MCj0384172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8725" y="1412875"/>
            <a:ext cx="3641725" cy="4679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968318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5598</TotalTime>
  <Words>7620</Words>
  <Application>Microsoft Macintosh PowerPoint</Application>
  <PresentationFormat>On-screen Show (4:3)</PresentationFormat>
  <Paragraphs>1576</Paragraphs>
  <Slides>79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7" baseType="lpstr">
      <vt:lpstr>Wingdings</vt:lpstr>
      <vt:lpstr>MS PGothic</vt:lpstr>
      <vt:lpstr>Consolas</vt:lpstr>
      <vt:lpstr>Arial</vt:lpstr>
      <vt:lpstr>Symbol</vt:lpstr>
      <vt:lpstr>Tahoma</vt:lpstr>
      <vt:lpstr>Arial Narrow</vt:lpstr>
      <vt:lpstr>Default Design</vt:lpstr>
      <vt:lpstr>Operating Systems</vt:lpstr>
      <vt:lpstr>Synchronization</vt:lpstr>
      <vt:lpstr>Example: Too Much Milk</vt:lpstr>
      <vt:lpstr>Example: Money Flies Away …</vt:lpstr>
      <vt:lpstr>Example: Print Spooler </vt:lpstr>
      <vt:lpstr>Example: Print Spooler </vt:lpstr>
      <vt:lpstr>Example: Print Spooler </vt:lpstr>
      <vt:lpstr>Example: Producer/Consumer Problem</vt:lpstr>
      <vt:lpstr>Example: Producer/Consumer Problem</vt:lpstr>
      <vt:lpstr>Producer/Consumer Problem – Race Condition</vt:lpstr>
      <vt:lpstr>Race Condition</vt:lpstr>
      <vt:lpstr>Examples of Race Condition</vt:lpstr>
      <vt:lpstr>Critical-Section (CS) Problem </vt:lpstr>
      <vt:lpstr>Critical-Section (CS) – Example </vt:lpstr>
      <vt:lpstr>Critical-Section (CS) </vt:lpstr>
      <vt:lpstr>Requirements: Critical-Section (CS) Problem</vt:lpstr>
      <vt:lpstr>Requirements: Critical-Section Problem</vt:lpstr>
      <vt:lpstr>Requirements: Critical-Section Problem</vt:lpstr>
      <vt:lpstr>Software Solution – Lock Variables</vt:lpstr>
      <vt:lpstr>Lock Variables</vt:lpstr>
      <vt:lpstr>Lock Variables</vt:lpstr>
      <vt:lpstr>Software Solution – Strict Alternation </vt:lpstr>
      <vt:lpstr>Strict Alternation</vt:lpstr>
      <vt:lpstr>Strict Alternation</vt:lpstr>
      <vt:lpstr>Strict Alternation</vt:lpstr>
      <vt:lpstr>Strict Alternation</vt:lpstr>
      <vt:lpstr>Strict Alternation</vt:lpstr>
      <vt:lpstr>Yet Another Solution</vt:lpstr>
      <vt:lpstr>Yet Another Solution</vt:lpstr>
      <vt:lpstr>Peterson’s Algorithm </vt:lpstr>
      <vt:lpstr>Peterson’s Algorithm </vt:lpstr>
      <vt:lpstr>Peterson’s Algorithm </vt:lpstr>
      <vt:lpstr>Lamport’s Bakery Algorithm (For n processes)</vt:lpstr>
      <vt:lpstr>Lamport’s Bakery Algorithm </vt:lpstr>
      <vt:lpstr>CS Problem: Software-based Solutions</vt:lpstr>
      <vt:lpstr>Mutual Exclusion: Hardware Support </vt:lpstr>
      <vt:lpstr>Mutual Exclusion: Other Hardware Support </vt:lpstr>
      <vt:lpstr>Test and Set (TSL)</vt:lpstr>
      <vt:lpstr>Test and Set (TSL)</vt:lpstr>
      <vt:lpstr>Exchange (Swap)</vt:lpstr>
      <vt:lpstr>Mutual Exclusion Using Machine Instructions</vt:lpstr>
      <vt:lpstr>Avoiding Starvation</vt:lpstr>
      <vt:lpstr>Priority Inversion</vt:lpstr>
      <vt:lpstr>Priority Inheritance</vt:lpstr>
      <vt:lpstr>Semaphores</vt:lpstr>
      <vt:lpstr>Semaphores</vt:lpstr>
      <vt:lpstr>Binary Semaphore</vt:lpstr>
      <vt:lpstr>Busy-waiting </vt:lpstr>
      <vt:lpstr>Busy-waiting</vt:lpstr>
      <vt:lpstr>Sleep/Block and Wakeup Implementation</vt:lpstr>
      <vt:lpstr>Binary Semaphore</vt:lpstr>
      <vt:lpstr>Counting Semaphore</vt:lpstr>
      <vt:lpstr>Implementing Semaphores</vt:lpstr>
      <vt:lpstr>Critical Section Using Semaphores</vt:lpstr>
      <vt:lpstr>Bad Use of Semaphores Can Lead to Deadlocks!</vt:lpstr>
      <vt:lpstr>Synchronization Problems</vt:lpstr>
      <vt:lpstr>Producer/Consumer Problem Revisited </vt:lpstr>
      <vt:lpstr>Producer/Consumer Problem Revisited </vt:lpstr>
      <vt:lpstr>Producer/Consumer Problem Revisited </vt:lpstr>
      <vt:lpstr>Producer/Consumer Problem Revisited </vt:lpstr>
      <vt:lpstr>Changing Order of Semaphores</vt:lpstr>
      <vt:lpstr>Dining Philosophers Problem [E.W. Dijkstra, 1965]</vt:lpstr>
      <vt:lpstr>Dining Philosophers Problem: States and Properties</vt:lpstr>
      <vt:lpstr>Dining Philosophers Problem Using Semaphores</vt:lpstr>
      <vt:lpstr>Semaphores Summary</vt:lpstr>
      <vt:lpstr>Monitors</vt:lpstr>
      <vt:lpstr>Monitors</vt:lpstr>
      <vt:lpstr>Monitors</vt:lpstr>
      <vt:lpstr>Monitors</vt:lpstr>
      <vt:lpstr>Mutual Exclusion With a Monitor</vt:lpstr>
      <vt:lpstr>Monitors Example</vt:lpstr>
      <vt:lpstr>Condition Variables in Monitors</vt:lpstr>
      <vt:lpstr>Producer/Consumer Problem Revisited </vt:lpstr>
      <vt:lpstr>Signal Semantics</vt:lpstr>
      <vt:lpstr>Condition Variables vs. Semaphores</vt:lpstr>
      <vt:lpstr>Dining Philosophers Problem Revisited</vt:lpstr>
      <vt:lpstr>Condition Variables and Locks</vt:lpstr>
      <vt:lpstr>Condition Variables and Locks – Example </vt:lpstr>
      <vt:lpstr>Any Question So Far?</vt:lpstr>
    </vt:vector>
  </TitlesOfParts>
  <Company>IPVS - Universität Stuttgart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Microsoft Office User</cp:lastModifiedBy>
  <cp:revision>1810</cp:revision>
  <cp:lastPrinted>2013-10-17T07:59:38Z</cp:lastPrinted>
  <dcterms:created xsi:type="dcterms:W3CDTF">2007-03-29T10:37:57Z</dcterms:created>
  <dcterms:modified xsi:type="dcterms:W3CDTF">2026-03-27T06:01:17Z</dcterms:modified>
</cp:coreProperties>
</file>